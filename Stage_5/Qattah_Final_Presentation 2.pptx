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67" r:id="rId2"/>
    <p:sldId id="258" r:id="rId3"/>
    <p:sldId id="257" r:id="rId4"/>
    <p:sldId id="259" r:id="rId5"/>
    <p:sldId id="263" r:id="rId6"/>
    <p:sldId id="264" r:id="rId7"/>
    <p:sldId id="261" r:id="rId8"/>
    <p:sldId id="265" r:id="rId9"/>
    <p:sldId id="260"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381" autoAdjust="0"/>
    <p:restoredTop sz="77208" autoAdjust="0"/>
  </p:normalViewPr>
  <p:slideViewPr>
    <p:cSldViewPr snapToGrid="0" snapToObjects="1">
      <p:cViewPr varScale="1">
        <p:scale>
          <a:sx n="45" d="100"/>
          <a:sy n="45" d="100"/>
        </p:scale>
        <p:origin x="222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E14DBB-C95F-4A3C-9308-F9DB6F75D7EC}" type="datetimeFigureOut">
              <a:rPr lang="en-US" smtClean="0"/>
              <a:t>13-Nov-25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1D68E9-1F1F-449E-8FE2-51E11828812B}" type="slidenum">
              <a:rPr lang="en-US" smtClean="0"/>
              <a:t>‹#›</a:t>
            </a:fld>
            <a:endParaRPr lang="en-US"/>
          </a:p>
        </p:txBody>
      </p:sp>
    </p:spTree>
    <p:extLst>
      <p:ext uri="{BB962C8B-B14F-4D97-AF65-F5344CB8AC3E}">
        <p14:creationId xmlns:p14="http://schemas.microsoft.com/office/powerpoint/2010/main" val="294936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defRPr sz="2600">
                <a:solidFill>
                  <a:srgbClr val="B4C8BE"/>
                </a:solidFill>
              </a:defRPr>
            </a:pPr>
            <a:r>
              <a:rPr lang="ar-SA" dirty="0"/>
              <a:t>((( إبراهيم )))</a:t>
            </a:r>
          </a:p>
          <a:p>
            <a:pPr algn="ctr" rtl="1">
              <a:defRPr sz="2600">
                <a:solidFill>
                  <a:srgbClr val="B4C8BE"/>
                </a:solidFill>
              </a:defRPr>
            </a:pPr>
            <a:endParaRPr lang="en-US" dirty="0"/>
          </a:p>
          <a:p>
            <a:pPr algn="ctr" rtl="1">
              <a:defRPr sz="2600">
                <a:solidFill>
                  <a:srgbClr val="B4C8BE"/>
                </a:solidFill>
              </a:defRPr>
            </a:pPr>
            <a:r>
              <a:rPr lang="ar-SA" dirty="0"/>
              <a:t>الفقرة الأخيرة ------</a:t>
            </a:r>
            <a:r>
              <a:rPr lang="en-US" dirty="0"/>
              <a:t>&lt;</a:t>
            </a:r>
            <a:r>
              <a:rPr lang="ar-SA" dirty="0"/>
              <a:t>من خلال المشكلة وجدنا الحل في عرضها على شكل تطبيق قطه ومن ثم لمسنا الأثر في تنظيم وادارة المصاريف</a:t>
            </a:r>
            <a:endParaRPr lang="en-US" dirty="0"/>
          </a:p>
          <a:p>
            <a:pPr algn="ctr">
              <a:defRPr sz="2600">
                <a:solidFill>
                  <a:srgbClr val="B4C8BE"/>
                </a:solidFill>
              </a:defRPr>
            </a:pPr>
            <a:endParaRPr lang="en-US" dirty="0"/>
          </a:p>
          <a:p>
            <a:pPr algn="ctr" rtl="1"/>
            <a:r>
              <a:rPr lang="ar-SA" dirty="0"/>
              <a:t>والآن ننتقل إلى توضيح الهوية البصرية والتصميم مع خالد</a:t>
            </a:r>
            <a:endParaRPr lang="en-US" dirty="0"/>
          </a:p>
        </p:txBody>
      </p:sp>
      <p:sp>
        <p:nvSpPr>
          <p:cNvPr id="4" name="Slide Number Placeholder 3"/>
          <p:cNvSpPr>
            <a:spLocks noGrp="1"/>
          </p:cNvSpPr>
          <p:nvPr>
            <p:ph type="sldNum" sz="quarter" idx="5"/>
          </p:nvPr>
        </p:nvSpPr>
        <p:spPr/>
        <p:txBody>
          <a:bodyPr/>
          <a:lstStyle/>
          <a:p>
            <a:fld id="{751D68E9-1F1F-449E-8FE2-51E11828812B}" type="slidenum">
              <a:rPr lang="en-US" smtClean="0"/>
              <a:t>2</a:t>
            </a:fld>
            <a:endParaRPr lang="en-US"/>
          </a:p>
        </p:txBody>
      </p:sp>
    </p:spTree>
    <p:extLst>
      <p:ext uri="{BB962C8B-B14F-4D97-AF65-F5344CB8AC3E}">
        <p14:creationId xmlns:p14="http://schemas.microsoft.com/office/powerpoint/2010/main" val="1933719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en-US" dirty="0"/>
              <a:t>))</a:t>
            </a:r>
            <a:r>
              <a:rPr lang="ar-SA" dirty="0"/>
              <a:t>( خالد )))</a:t>
            </a:r>
          </a:p>
          <a:p>
            <a:pPr algn="ctr"/>
            <a:r>
              <a:rPr lang="ar-SA" dirty="0"/>
              <a:t>شكرًا إبراهيم</a:t>
            </a:r>
          </a:p>
          <a:p>
            <a:pPr algn="ctr"/>
            <a:endParaRPr lang="ar-SA" dirty="0"/>
          </a:p>
          <a:p>
            <a:pPr algn="ctr" rtl="1">
              <a:defRPr sz="2200">
                <a:solidFill>
                  <a:srgbClr val="E5E7EB"/>
                </a:solidFill>
              </a:defRPr>
            </a:pPr>
            <a:r>
              <a:rPr lang="ar-SA" dirty="0"/>
              <a:t>والآن دعونا نلقي نظرة على الجانب التقني مع فهد.</a:t>
            </a:r>
          </a:p>
          <a:p>
            <a:pPr algn="ctr" rtl="1">
              <a:defRPr sz="1800">
                <a:solidFill>
                  <a:srgbClr val="9CA3AF"/>
                </a:solidFill>
              </a:defRPr>
            </a:pPr>
            <a:r>
              <a:rPr lang="en-US" dirty="0"/>
              <a:t>Now, let’s move to the technical side with Fahad.</a:t>
            </a:r>
          </a:p>
        </p:txBody>
      </p:sp>
      <p:sp>
        <p:nvSpPr>
          <p:cNvPr id="4" name="Slide Number Placeholder 3"/>
          <p:cNvSpPr>
            <a:spLocks noGrp="1"/>
          </p:cNvSpPr>
          <p:nvPr>
            <p:ph type="sldNum" sz="quarter" idx="5"/>
          </p:nvPr>
        </p:nvSpPr>
        <p:spPr/>
        <p:txBody>
          <a:bodyPr/>
          <a:lstStyle/>
          <a:p>
            <a:fld id="{751D68E9-1F1F-449E-8FE2-51E11828812B}" type="slidenum">
              <a:rPr lang="en-US" smtClean="0"/>
              <a:t>3</a:t>
            </a:fld>
            <a:endParaRPr lang="en-US"/>
          </a:p>
        </p:txBody>
      </p:sp>
    </p:spTree>
    <p:extLst>
      <p:ext uri="{BB962C8B-B14F-4D97-AF65-F5344CB8AC3E}">
        <p14:creationId xmlns:p14="http://schemas.microsoft.com/office/powerpoint/2010/main" val="40251462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defRPr sz="2200">
                <a:solidFill>
                  <a:srgbClr val="E5E7EB"/>
                </a:solidFill>
              </a:defRPr>
            </a:pPr>
            <a:r>
              <a:rPr lang="en-US" dirty="0"/>
              <a:t>)))</a:t>
            </a:r>
            <a:r>
              <a:rPr lang="ar-SA" dirty="0"/>
              <a:t>فهد</a:t>
            </a:r>
            <a:r>
              <a:rPr lang="en-US" dirty="0"/>
              <a:t>(((</a:t>
            </a:r>
            <a:endParaRPr lang="ar-SA" dirty="0"/>
          </a:p>
          <a:p>
            <a:pPr algn="ctr" rtl="1">
              <a:defRPr sz="2200">
                <a:solidFill>
                  <a:srgbClr val="E5E7EB"/>
                </a:solidFill>
              </a:defRPr>
            </a:pPr>
            <a:r>
              <a:rPr lang="ar-SA" dirty="0"/>
              <a:t>شكرًا خالد.</a:t>
            </a:r>
          </a:p>
          <a:p>
            <a:pPr algn="ctr" rtl="1">
              <a:defRPr sz="1800">
                <a:solidFill>
                  <a:srgbClr val="9CA3AF"/>
                </a:solidFill>
              </a:defRPr>
            </a:pPr>
            <a:r>
              <a:rPr lang="en-US" dirty="0"/>
              <a:t>Thank you, Khaled.</a:t>
            </a:r>
            <a:endParaRPr lang="ar-SA" dirty="0"/>
          </a:p>
          <a:p>
            <a:pPr algn="ctr" rtl="1">
              <a:defRPr sz="1800">
                <a:solidFill>
                  <a:srgbClr val="9CA3AF"/>
                </a:solidFill>
              </a:defRPr>
            </a:pPr>
            <a:endParaRPr lang="ar-SA" dirty="0"/>
          </a:p>
          <a:p>
            <a:pPr algn="ctr" rtl="1">
              <a:defRPr sz="1800">
                <a:solidFill>
                  <a:srgbClr val="9CA3AF"/>
                </a:solidFill>
              </a:defRPr>
            </a:pPr>
            <a:r>
              <a:rPr lang="ar-SA" dirty="0"/>
              <a:t>زميلي ابراهيم</a:t>
            </a:r>
            <a:endParaRPr lang="en-US" dirty="0"/>
          </a:p>
        </p:txBody>
      </p:sp>
      <p:sp>
        <p:nvSpPr>
          <p:cNvPr id="4" name="Slide Number Placeholder 3"/>
          <p:cNvSpPr>
            <a:spLocks noGrp="1"/>
          </p:cNvSpPr>
          <p:nvPr>
            <p:ph type="sldNum" sz="quarter" idx="5"/>
          </p:nvPr>
        </p:nvSpPr>
        <p:spPr/>
        <p:txBody>
          <a:bodyPr/>
          <a:lstStyle/>
          <a:p>
            <a:fld id="{751D68E9-1F1F-449E-8FE2-51E11828812B}" type="slidenum">
              <a:rPr lang="en-US" smtClean="0"/>
              <a:t>4</a:t>
            </a:fld>
            <a:endParaRPr lang="en-US"/>
          </a:p>
        </p:txBody>
      </p:sp>
    </p:spTree>
    <p:extLst>
      <p:ext uri="{BB962C8B-B14F-4D97-AF65-F5344CB8AC3E}">
        <p14:creationId xmlns:p14="http://schemas.microsoft.com/office/powerpoint/2010/main" val="25319770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ar-SA" dirty="0"/>
              <a:t>((( إبراهيم )))</a:t>
            </a:r>
            <a:endParaRPr lang="en-US" dirty="0"/>
          </a:p>
        </p:txBody>
      </p:sp>
      <p:sp>
        <p:nvSpPr>
          <p:cNvPr id="4" name="Slide Number Placeholder 3"/>
          <p:cNvSpPr>
            <a:spLocks noGrp="1"/>
          </p:cNvSpPr>
          <p:nvPr>
            <p:ph type="sldNum" sz="quarter" idx="5"/>
          </p:nvPr>
        </p:nvSpPr>
        <p:spPr/>
        <p:txBody>
          <a:bodyPr/>
          <a:lstStyle/>
          <a:p>
            <a:fld id="{751D68E9-1F1F-449E-8FE2-51E11828812B}" type="slidenum">
              <a:rPr lang="en-US" smtClean="0"/>
              <a:t>5</a:t>
            </a:fld>
            <a:endParaRPr lang="en-US"/>
          </a:p>
        </p:txBody>
      </p:sp>
    </p:spTree>
    <p:extLst>
      <p:ext uri="{BB962C8B-B14F-4D97-AF65-F5344CB8AC3E}">
        <p14:creationId xmlns:p14="http://schemas.microsoft.com/office/powerpoint/2010/main" val="2457433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r>
              <a:rPr lang="ar-SA" dirty="0"/>
              <a:t>((( خالد )))</a:t>
            </a:r>
            <a:endParaRPr lang="en-US" dirty="0"/>
          </a:p>
        </p:txBody>
      </p:sp>
      <p:sp>
        <p:nvSpPr>
          <p:cNvPr id="4" name="Slide Number Placeholder 3"/>
          <p:cNvSpPr>
            <a:spLocks noGrp="1"/>
          </p:cNvSpPr>
          <p:nvPr>
            <p:ph type="sldNum" sz="quarter" idx="5"/>
          </p:nvPr>
        </p:nvSpPr>
        <p:spPr/>
        <p:txBody>
          <a:bodyPr/>
          <a:lstStyle/>
          <a:p>
            <a:fld id="{751D68E9-1F1F-449E-8FE2-51E11828812B}" type="slidenum">
              <a:rPr lang="en-US" smtClean="0"/>
              <a:t>6</a:t>
            </a:fld>
            <a:endParaRPr lang="en-US"/>
          </a:p>
        </p:txBody>
      </p:sp>
    </p:spTree>
    <p:extLst>
      <p:ext uri="{BB962C8B-B14F-4D97-AF65-F5344CB8AC3E}">
        <p14:creationId xmlns:p14="http://schemas.microsoft.com/office/powerpoint/2010/main" val="15754513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rtl="1">
              <a:defRPr sz="2200">
                <a:solidFill>
                  <a:srgbClr val="E5E7EB"/>
                </a:solidFill>
              </a:defRPr>
            </a:pPr>
            <a:r>
              <a:rPr lang="ar-SA" dirty="0"/>
              <a:t>((( فهد )))</a:t>
            </a:r>
          </a:p>
          <a:p>
            <a:pPr algn="ctr" rtl="1">
              <a:defRPr sz="2200">
                <a:solidFill>
                  <a:srgbClr val="E5E7EB"/>
                </a:solidFill>
              </a:defRPr>
            </a:pPr>
            <a:r>
              <a:rPr lang="ar-SA" dirty="0"/>
              <a:t>شكرًا لمتابعتكم ونعود للختام.</a:t>
            </a:r>
          </a:p>
          <a:p>
            <a:pPr algn="ctr" rtl="1">
              <a:defRPr sz="1800">
                <a:solidFill>
                  <a:srgbClr val="9CA3AF"/>
                </a:solidFill>
              </a:defRPr>
            </a:pPr>
            <a:r>
              <a:rPr lang="en-US" dirty="0"/>
              <a:t>Thank you for watching — back for closing.</a:t>
            </a:r>
          </a:p>
          <a:p>
            <a:pPr algn="r" rtl="1"/>
            <a:endParaRPr lang="en-US" dirty="0"/>
          </a:p>
        </p:txBody>
      </p:sp>
      <p:sp>
        <p:nvSpPr>
          <p:cNvPr id="4" name="Slide Number Placeholder 3"/>
          <p:cNvSpPr>
            <a:spLocks noGrp="1"/>
          </p:cNvSpPr>
          <p:nvPr>
            <p:ph type="sldNum" sz="quarter" idx="5"/>
          </p:nvPr>
        </p:nvSpPr>
        <p:spPr/>
        <p:txBody>
          <a:bodyPr/>
          <a:lstStyle/>
          <a:p>
            <a:fld id="{751D68E9-1F1F-449E-8FE2-51E11828812B}" type="slidenum">
              <a:rPr lang="en-US" smtClean="0"/>
              <a:t>7</a:t>
            </a:fld>
            <a:endParaRPr lang="en-US"/>
          </a:p>
        </p:txBody>
      </p:sp>
    </p:spTree>
    <p:extLst>
      <p:ext uri="{BB962C8B-B14F-4D97-AF65-F5344CB8AC3E}">
        <p14:creationId xmlns:p14="http://schemas.microsoft.com/office/powerpoint/2010/main" val="3455385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ar-SA" dirty="0"/>
              <a:t>إبراهيم خالد فهد</a:t>
            </a:r>
            <a:endParaRPr lang="en-US" dirty="0"/>
          </a:p>
        </p:txBody>
      </p:sp>
      <p:sp>
        <p:nvSpPr>
          <p:cNvPr id="4" name="Slide Number Placeholder 3"/>
          <p:cNvSpPr>
            <a:spLocks noGrp="1"/>
          </p:cNvSpPr>
          <p:nvPr>
            <p:ph type="sldNum" sz="quarter" idx="5"/>
          </p:nvPr>
        </p:nvSpPr>
        <p:spPr/>
        <p:txBody>
          <a:bodyPr/>
          <a:lstStyle/>
          <a:p>
            <a:fld id="{751D68E9-1F1F-449E-8FE2-51E11828812B}" type="slidenum">
              <a:rPr lang="en-US" smtClean="0"/>
              <a:t>8</a:t>
            </a:fld>
            <a:endParaRPr lang="en-US"/>
          </a:p>
        </p:txBody>
      </p:sp>
    </p:spTree>
    <p:extLst>
      <p:ext uri="{BB962C8B-B14F-4D97-AF65-F5344CB8AC3E}">
        <p14:creationId xmlns:p14="http://schemas.microsoft.com/office/powerpoint/2010/main" val="2939770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endParaRPr lang="en-US" dirty="0"/>
          </a:p>
        </p:txBody>
      </p:sp>
      <p:sp>
        <p:nvSpPr>
          <p:cNvPr id="4" name="Slide Number Placeholder 3"/>
          <p:cNvSpPr>
            <a:spLocks noGrp="1"/>
          </p:cNvSpPr>
          <p:nvPr>
            <p:ph type="sldNum" sz="quarter" idx="5"/>
          </p:nvPr>
        </p:nvSpPr>
        <p:spPr/>
        <p:txBody>
          <a:bodyPr/>
          <a:lstStyle/>
          <a:p>
            <a:fld id="{751D68E9-1F1F-449E-8FE2-51E11828812B}" type="slidenum">
              <a:rPr lang="en-US" smtClean="0"/>
              <a:t>9</a:t>
            </a:fld>
            <a:endParaRPr lang="en-US"/>
          </a:p>
        </p:txBody>
      </p:sp>
    </p:spTree>
    <p:extLst>
      <p:ext uri="{BB962C8B-B14F-4D97-AF65-F5344CB8AC3E}">
        <p14:creationId xmlns:p14="http://schemas.microsoft.com/office/powerpoint/2010/main" val="14928134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13-Nov-25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13-Nov-25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13-Nov-25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13-Nov-25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13-Nov-25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13-Nov-25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13-Nov-25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9" name="TextBox 8">
            <a:extLst>
              <a:ext uri="{FF2B5EF4-FFF2-40B4-BE49-F238E27FC236}">
                <a16:creationId xmlns:a16="http://schemas.microsoft.com/office/drawing/2014/main" id="{D4147355-1C37-6665-FDA6-7D10AF5F64DA}"/>
              </a:ext>
            </a:extLst>
          </p:cNvPr>
          <p:cNvSpPr txBox="1"/>
          <p:nvPr userDrawn="1">
            <p:extLst>
              <p:ext uri="{1162E1C5-73C7-4A58-AE30-91384D911F3F}">
                <p184:classification xmlns:p184="http://schemas.microsoft.com/office/powerpoint/2018/4/main" val="hdr"/>
              </p:ext>
            </p:extLst>
          </p:nvPr>
        </p:nvSpPr>
        <p:spPr>
          <a:xfrm>
            <a:off x="3824288" y="63500"/>
            <a:ext cx="1546288" cy="152400"/>
          </a:xfrm>
          <a:prstGeom prst="rect">
            <a:avLst/>
          </a:prstGeom>
        </p:spPr>
        <p:txBody>
          <a:bodyPr horzOverflow="overflow" lIns="0" tIns="0" rIns="0" bIns="0">
            <a:spAutoFit/>
          </a:bodyPr>
          <a:lstStyle/>
          <a:p>
            <a:pPr algn="l"/>
            <a:r>
              <a:rPr lang="en-US" sz="1000">
                <a:solidFill>
                  <a:srgbClr val="0000FF">
                    <a:alpha val="50000"/>
                  </a:srgbClr>
                </a:solidFill>
                <a:latin typeface="Aptos" panose="020B0004020202020204" pitchFamily="34" charset="0"/>
              </a:rPr>
              <a:t>Classification: Confidential </a:t>
            </a:r>
          </a:p>
        </p:txBody>
      </p:sp>
      <p:sp>
        <p:nvSpPr>
          <p:cNvPr id="10" name="TextBox 9">
            <a:extLst>
              <a:ext uri="{FF2B5EF4-FFF2-40B4-BE49-F238E27FC236}">
                <a16:creationId xmlns:a16="http://schemas.microsoft.com/office/drawing/2014/main" id="{9AAF6BC6-6337-6028-4C11-F88978102059}"/>
              </a:ext>
            </a:extLst>
          </p:cNvPr>
          <p:cNvSpPr txBox="1"/>
          <p:nvPr userDrawn="1">
            <p:extLst>
              <p:ext uri="{1162E1C5-73C7-4A58-AE30-91384D911F3F}">
                <p184:classification xmlns:p184="http://schemas.microsoft.com/office/powerpoint/2018/4/main" val="ftr"/>
              </p:ext>
            </p:extLst>
          </p:nvPr>
        </p:nvSpPr>
        <p:spPr>
          <a:xfrm>
            <a:off x="3824288" y="6642100"/>
            <a:ext cx="1546288" cy="152400"/>
          </a:xfrm>
          <a:prstGeom prst="rect">
            <a:avLst/>
          </a:prstGeom>
        </p:spPr>
        <p:txBody>
          <a:bodyPr horzOverflow="overflow" lIns="0" tIns="0" rIns="0" bIns="0">
            <a:spAutoFit/>
          </a:bodyPr>
          <a:lstStyle/>
          <a:p>
            <a:pPr algn="l"/>
            <a:r>
              <a:rPr lang="en-US" sz="1000">
                <a:solidFill>
                  <a:srgbClr val="0000FF">
                    <a:alpha val="50000"/>
                  </a:srgbClr>
                </a:solidFill>
                <a:latin typeface="Aptos" panose="020B0004020202020204" pitchFamily="34" charset="0"/>
              </a:rPr>
              <a:t>Classification: Confidential </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96522-669E-F0DF-27AF-46A36E9A9DC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4FDE1B1-4150-C88A-FC71-FAB540ECCE8A}"/>
              </a:ext>
            </a:extLst>
          </p:cNvPr>
          <p:cNvSpPr/>
          <p:nvPr/>
        </p:nvSpPr>
        <p:spPr>
          <a:xfrm>
            <a:off x="0" y="0"/>
            <a:ext cx="9144000" cy="6858000"/>
          </a:xfrm>
          <a:prstGeom prst="rect">
            <a:avLst/>
          </a:prstGeom>
          <a:gradFill rotWithShape="1">
            <a:gsLst>
              <a:gs pos="0">
                <a:srgbClr val="0B1220"/>
              </a:gs>
              <a:gs pos="100000">
                <a:srgbClr val="142319"/>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255D482-BB86-CDB8-B107-E2353C32F6FE}"/>
              </a:ext>
            </a:extLst>
          </p:cNvPr>
          <p:cNvSpPr txBox="1"/>
          <p:nvPr/>
        </p:nvSpPr>
        <p:spPr>
          <a:xfrm>
            <a:off x="708660" y="237292"/>
            <a:ext cx="7726680" cy="1077218"/>
          </a:xfrm>
          <a:prstGeom prst="rect">
            <a:avLst/>
          </a:prstGeom>
          <a:noFill/>
        </p:spPr>
        <p:txBody>
          <a:bodyPr wrap="square">
            <a:spAutoFit/>
          </a:bodyPr>
          <a:lstStyle/>
          <a:p>
            <a:pPr algn="r">
              <a:defRPr sz="3800" b="1">
                <a:solidFill>
                  <a:srgbClr val="22C55E"/>
                </a:solidFill>
              </a:defRPr>
            </a:pPr>
            <a:r>
              <a:rPr dirty="0" err="1"/>
              <a:t>مشروع</a:t>
            </a:r>
            <a:r>
              <a:rPr dirty="0"/>
              <a:t> </a:t>
            </a:r>
            <a:r>
              <a:rPr dirty="0" err="1"/>
              <a:t>قَطّة</a:t>
            </a:r>
            <a:endParaRPr dirty="0"/>
          </a:p>
          <a:p>
            <a:pPr>
              <a:defRPr sz="2600">
                <a:solidFill>
                  <a:srgbClr val="B4C8BE"/>
                </a:solidFill>
              </a:defRPr>
            </a:pPr>
            <a:r>
              <a:rPr dirty="0"/>
              <a:t>Qattah Project</a:t>
            </a:r>
          </a:p>
        </p:txBody>
      </p:sp>
      <p:sp>
        <p:nvSpPr>
          <p:cNvPr id="4" name="TextBox 3">
            <a:extLst>
              <a:ext uri="{FF2B5EF4-FFF2-40B4-BE49-F238E27FC236}">
                <a16:creationId xmlns:a16="http://schemas.microsoft.com/office/drawing/2014/main" id="{08FB0BE5-BEC0-15EB-2CEA-2B951AFD4F38}"/>
              </a:ext>
            </a:extLst>
          </p:cNvPr>
          <p:cNvSpPr txBox="1"/>
          <p:nvPr/>
        </p:nvSpPr>
        <p:spPr>
          <a:xfrm>
            <a:off x="1245870" y="1828800"/>
            <a:ext cx="6396949" cy="369332"/>
          </a:xfrm>
          <a:prstGeom prst="rect">
            <a:avLst/>
          </a:prstGeom>
          <a:noFill/>
        </p:spPr>
        <p:txBody>
          <a:bodyPr wrap="square">
            <a:spAutoFit/>
          </a:bodyPr>
          <a:lstStyle/>
          <a:p>
            <a:pPr algn="ctr" rtl="1"/>
            <a:endParaRPr dirty="0"/>
          </a:p>
        </p:txBody>
      </p:sp>
      <p:pic>
        <p:nvPicPr>
          <p:cNvPr id="6" name="Picture 5">
            <a:extLst>
              <a:ext uri="{FF2B5EF4-FFF2-40B4-BE49-F238E27FC236}">
                <a16:creationId xmlns:a16="http://schemas.microsoft.com/office/drawing/2014/main" id="{624C44FD-C8F5-530E-3420-220F7E78FAAE}"/>
              </a:ext>
            </a:extLst>
          </p:cNvPr>
          <p:cNvPicPr>
            <a:picLocks noChangeAspect="1"/>
          </p:cNvPicPr>
          <p:nvPr/>
        </p:nvPicPr>
        <p:blipFill>
          <a:blip r:embed="rId4"/>
          <a:stretch>
            <a:fillRect/>
          </a:stretch>
        </p:blipFill>
        <p:spPr>
          <a:xfrm>
            <a:off x="4078584" y="237292"/>
            <a:ext cx="731520" cy="731520"/>
          </a:xfrm>
          <a:prstGeom prst="rect">
            <a:avLst/>
          </a:prstGeom>
        </p:spPr>
      </p:pic>
      <p:pic>
        <p:nvPicPr>
          <p:cNvPr id="7" name="Untitled design">
            <a:hlinkClick r:id="" action="ppaction://media"/>
            <a:extLst>
              <a:ext uri="{FF2B5EF4-FFF2-40B4-BE49-F238E27FC236}">
                <a16:creationId xmlns:a16="http://schemas.microsoft.com/office/drawing/2014/main" id="{80784E70-440B-3506-3CF5-2F4328C2BDB0}"/>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373525" y="3920089"/>
            <a:ext cx="6269294" cy="2900362"/>
          </a:xfrm>
          <a:prstGeom prst="rect">
            <a:avLst/>
          </a:prstGeom>
        </p:spPr>
      </p:pic>
      <p:sp>
        <p:nvSpPr>
          <p:cNvPr id="8" name="TextBox 7">
            <a:extLst>
              <a:ext uri="{FF2B5EF4-FFF2-40B4-BE49-F238E27FC236}">
                <a16:creationId xmlns:a16="http://schemas.microsoft.com/office/drawing/2014/main" id="{584FDDF7-7B83-1287-4414-008AF5706D4B}"/>
              </a:ext>
            </a:extLst>
          </p:cNvPr>
          <p:cNvSpPr txBox="1"/>
          <p:nvPr/>
        </p:nvSpPr>
        <p:spPr>
          <a:xfrm>
            <a:off x="1373525" y="1756347"/>
            <a:ext cx="6396949" cy="2215991"/>
          </a:xfrm>
          <a:prstGeom prst="rect">
            <a:avLst/>
          </a:prstGeom>
          <a:noFill/>
        </p:spPr>
        <p:txBody>
          <a:bodyPr wrap="square">
            <a:spAutoFit/>
          </a:bodyPr>
          <a:lstStyle/>
          <a:p>
            <a:pPr algn="ctr" rtl="1"/>
            <a:endParaRPr dirty="0"/>
          </a:p>
          <a:p>
            <a:pPr algn="ctr" rtl="1">
              <a:defRPr sz="2200">
                <a:solidFill>
                  <a:srgbClr val="E5E7EB"/>
                </a:solidFill>
              </a:defRPr>
            </a:pPr>
            <a:r>
              <a:rPr dirty="0" err="1"/>
              <a:t>العرض</a:t>
            </a:r>
            <a:r>
              <a:rPr dirty="0"/>
              <a:t> </a:t>
            </a:r>
            <a:r>
              <a:rPr dirty="0" err="1"/>
              <a:t>النهائي</a:t>
            </a:r>
            <a:r>
              <a:rPr dirty="0"/>
              <a:t> (Stage 5)</a:t>
            </a:r>
          </a:p>
          <a:p>
            <a:pPr algn="ctr" rtl="1">
              <a:defRPr sz="1800">
                <a:solidFill>
                  <a:srgbClr val="9CA3AF"/>
                </a:solidFill>
              </a:defRPr>
            </a:pPr>
            <a:r>
              <a:rPr dirty="0"/>
              <a:t>Final Presentation — Stage 5</a:t>
            </a:r>
          </a:p>
          <a:p>
            <a:pPr algn="ctr" rtl="1">
              <a:defRPr sz="2200">
                <a:solidFill>
                  <a:srgbClr val="E5E7EB"/>
                </a:solidFill>
              </a:defRPr>
            </a:pPr>
            <a:r>
              <a:rPr dirty="0" err="1"/>
              <a:t>الفريق</a:t>
            </a:r>
            <a:r>
              <a:rPr dirty="0"/>
              <a:t>: </a:t>
            </a:r>
            <a:r>
              <a:rPr dirty="0" err="1"/>
              <a:t>إبراهيم</a:t>
            </a:r>
            <a:r>
              <a:rPr dirty="0"/>
              <a:t> • </a:t>
            </a:r>
            <a:r>
              <a:rPr dirty="0" err="1"/>
              <a:t>خالد</a:t>
            </a:r>
            <a:r>
              <a:rPr dirty="0"/>
              <a:t> • </a:t>
            </a:r>
            <a:r>
              <a:rPr dirty="0" err="1"/>
              <a:t>فهد</a:t>
            </a:r>
            <a:endParaRPr dirty="0"/>
          </a:p>
          <a:p>
            <a:pPr algn="ctr" rtl="1">
              <a:defRPr sz="1800">
                <a:solidFill>
                  <a:srgbClr val="9CA3AF"/>
                </a:solidFill>
              </a:defRPr>
            </a:pPr>
            <a:r>
              <a:rPr dirty="0"/>
              <a:t>Team: Ibrahim • Khaled • Fahad</a:t>
            </a:r>
          </a:p>
          <a:p>
            <a:pPr algn="ctr" rtl="1">
              <a:defRPr sz="2200">
                <a:solidFill>
                  <a:srgbClr val="E5E7EB"/>
                </a:solidFill>
              </a:defRPr>
            </a:pPr>
            <a:r>
              <a:rPr dirty="0" err="1"/>
              <a:t>المدة</a:t>
            </a:r>
            <a:r>
              <a:rPr dirty="0"/>
              <a:t>: 10 </a:t>
            </a:r>
            <a:r>
              <a:rPr dirty="0" err="1"/>
              <a:t>دقائق</a:t>
            </a:r>
            <a:endParaRPr dirty="0"/>
          </a:p>
          <a:p>
            <a:pPr algn="ctr" rtl="1">
              <a:defRPr sz="1800">
                <a:solidFill>
                  <a:srgbClr val="9CA3AF"/>
                </a:solidFill>
              </a:defRPr>
            </a:pPr>
            <a:r>
              <a:rPr dirty="0"/>
              <a:t>Duration: 10 minutes</a:t>
            </a:r>
          </a:p>
        </p:txBody>
      </p:sp>
      <p:sp>
        <p:nvSpPr>
          <p:cNvPr id="5" name="TextBox 4"/>
          <p:cNvSpPr txBox="1"/>
          <p:nvPr/>
        </p:nvSpPr>
        <p:spPr>
          <a:xfrm>
            <a:off x="790894" y="1410253"/>
            <a:ext cx="8038419" cy="523220"/>
          </a:xfrm>
          <a:prstGeom prst="rect">
            <a:avLst/>
          </a:prstGeom>
          <a:noFill/>
        </p:spPr>
        <p:txBody>
          <a:bodyPr wrap="square">
            <a:spAutoFit/>
          </a:bodyPr>
          <a:lstStyle/>
          <a:p>
            <a:pPr>
              <a:defRPr sz="2800">
                <a:solidFill>
                  <a:srgbClr val="E5E7EB"/>
                </a:solidFill>
              </a:defRPr>
            </a:pPr>
            <a:r>
              <a:rPr lang="en-US" dirty="0"/>
              <a:t>Group Expense Sharing App | </a:t>
            </a:r>
            <a:r>
              <a:rPr lang="ar-SA" dirty="0"/>
              <a:t>تطبيق إدارة وتقسيم المصاريف</a:t>
            </a:r>
          </a:p>
        </p:txBody>
      </p:sp>
    </p:spTree>
    <p:extLst>
      <p:ext uri="{BB962C8B-B14F-4D97-AF65-F5344CB8AC3E}">
        <p14:creationId xmlns:p14="http://schemas.microsoft.com/office/powerpoint/2010/main" val="3586058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967"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repeatCount="indefinite"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7208"/>
            <a:ext cx="9144000" cy="6858000"/>
          </a:xfrm>
          <a:prstGeom prst="rect">
            <a:avLst/>
          </a:prstGeom>
          <a:gradFill rotWithShape="1">
            <a:gsLst>
              <a:gs pos="0">
                <a:srgbClr val="0B1220"/>
              </a:gs>
              <a:gs pos="100000">
                <a:srgbClr val="142319"/>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72452" y="792049"/>
            <a:ext cx="7399097" cy="5970865"/>
          </a:xfrm>
          <a:prstGeom prst="rect">
            <a:avLst/>
          </a:prstGeom>
          <a:noFill/>
        </p:spPr>
        <p:txBody>
          <a:bodyPr wrap="square">
            <a:spAutoFit/>
          </a:bodyPr>
          <a:lstStyle/>
          <a:p>
            <a:pPr algn="ctr" rtl="1">
              <a:defRPr sz="2200">
                <a:solidFill>
                  <a:srgbClr val="E5E7EB"/>
                </a:solidFill>
              </a:defRPr>
            </a:pPr>
            <a:r>
              <a:rPr lang="ar-SA" dirty="0"/>
              <a:t>السلام عليكم ورحمة الله وبركاته، نحن فريق قَطّة.</a:t>
            </a:r>
          </a:p>
          <a:p>
            <a:pPr algn="ctr" rtl="1">
              <a:defRPr sz="1800">
                <a:solidFill>
                  <a:srgbClr val="9CA3AF"/>
                </a:solidFill>
              </a:defRPr>
            </a:pPr>
            <a:r>
              <a:rPr lang="en-US" dirty="0"/>
              <a:t>Peace be upon you all. We are Team Qattah.</a:t>
            </a:r>
          </a:p>
          <a:p>
            <a:pPr algn="ctr" rtl="1"/>
            <a:r>
              <a:rPr lang="ar-SA" sz="2200" dirty="0">
                <a:solidFill>
                  <a:srgbClr val="E5E7EB"/>
                </a:solidFill>
              </a:rPr>
              <a:t>“تخيلوا مجموعة أصدقاء خططوا لرحلة وقاموا بتقسيم المصاريف بينهم على ورقة، بعد ما استمتعوا بالرحلة اكتشفوا ان الورقة ضاعت والكل نسى مين اللي دفع وكم دفع! من هنا بدأت فكرة تطبيق (قطّة) </a:t>
            </a:r>
            <a:r>
              <a:rPr lang="en-US" sz="2200" dirty="0">
                <a:solidFill>
                  <a:srgbClr val="E5E7EB"/>
                </a:solidFill>
              </a:rPr>
              <a:t>Qattah ، </a:t>
            </a:r>
            <a:r>
              <a:rPr lang="ar-SA" sz="2200" dirty="0">
                <a:solidFill>
                  <a:srgbClr val="E5E7EB"/>
                </a:solidFill>
              </a:rPr>
              <a:t>تطبيق بسيط وسهل بدل الأوراق والجداول اليدوية باستخدام الإكسل، (قطّة) </a:t>
            </a:r>
            <a:r>
              <a:rPr lang="en-US" sz="2200" dirty="0">
                <a:solidFill>
                  <a:srgbClr val="E5E7EB"/>
                </a:solidFill>
              </a:rPr>
              <a:t>Qattah</a:t>
            </a:r>
            <a:r>
              <a:rPr lang="ar-SA" sz="2200" dirty="0">
                <a:solidFill>
                  <a:srgbClr val="E5E7EB"/>
                </a:solidFill>
              </a:rPr>
              <a:t> يجمع كل المصاريف تلقائيًا ويقسمها بالتساوي، ويسهل عملية التحويلات والتواصل بين الأصدقاء</a:t>
            </a:r>
            <a:r>
              <a:rPr lang="en-US" sz="2200" dirty="0">
                <a:solidFill>
                  <a:srgbClr val="E5E7EB"/>
                </a:solidFill>
              </a:rPr>
              <a:t> </a:t>
            </a:r>
            <a:r>
              <a:rPr lang="ar-SA" sz="2400" dirty="0">
                <a:solidFill>
                  <a:srgbClr val="E5E7EB"/>
                </a:solidFill>
              </a:rPr>
              <a:t>ويحسبها عنك بعد كل مشوار ومتوفر على جميع الاجهزة </a:t>
            </a:r>
            <a:r>
              <a:rPr lang="ar-SA" sz="2400" dirty="0"/>
              <a:t> </a:t>
            </a:r>
            <a:r>
              <a:rPr lang="ar-SA" sz="2200" dirty="0">
                <a:solidFill>
                  <a:srgbClr val="E5E7EB"/>
                </a:solidFill>
              </a:rPr>
              <a:t>.”</a:t>
            </a:r>
          </a:p>
          <a:p>
            <a:pPr algn="ctr" rtl="1">
              <a:defRPr sz="2200">
                <a:solidFill>
                  <a:srgbClr val="E5E7EB"/>
                </a:solidFill>
              </a:defRPr>
            </a:pPr>
            <a:endParaRPr lang="en-US" sz="800" dirty="0"/>
          </a:p>
          <a:p>
            <a:pPr algn="ctr" rtl="1">
              <a:defRPr sz="2200">
                <a:solidFill>
                  <a:srgbClr val="E5E7EB"/>
                </a:solidFill>
              </a:defRPr>
            </a:pPr>
            <a:r>
              <a:rPr dirty="0" err="1"/>
              <a:t>من</a:t>
            </a:r>
            <a:r>
              <a:rPr dirty="0"/>
              <a:t> </a:t>
            </a:r>
            <a:r>
              <a:rPr dirty="0" err="1"/>
              <a:t>المشكلة</a:t>
            </a:r>
            <a:r>
              <a:rPr dirty="0"/>
              <a:t> </a:t>
            </a:r>
            <a:r>
              <a:rPr lang="en-US" dirty="0">
                <a:sym typeface="Symbol" panose="05050102010706020507" pitchFamily="18" charset="2"/>
              </a:rPr>
              <a:t></a:t>
            </a:r>
            <a:r>
              <a:rPr lang="ar-SA" dirty="0">
                <a:sym typeface="Symbol" panose="05050102010706020507" pitchFamily="18" charset="2"/>
              </a:rPr>
              <a:t> </a:t>
            </a:r>
            <a:r>
              <a:rPr lang="ar-SA" dirty="0"/>
              <a:t>إ</a:t>
            </a:r>
            <a:r>
              <a:rPr dirty="0" err="1"/>
              <a:t>لى</a:t>
            </a:r>
            <a:r>
              <a:rPr dirty="0"/>
              <a:t> </a:t>
            </a:r>
            <a:r>
              <a:rPr dirty="0" err="1"/>
              <a:t>الحل</a:t>
            </a:r>
            <a:r>
              <a:rPr dirty="0"/>
              <a:t> </a:t>
            </a:r>
            <a:r>
              <a:rPr lang="en-US" dirty="0">
                <a:sym typeface="Symbol" panose="05050102010706020507" pitchFamily="18" charset="2"/>
              </a:rPr>
              <a:t></a:t>
            </a:r>
            <a:r>
              <a:rPr lang="ar-SA" dirty="0">
                <a:sym typeface="Symbol" panose="05050102010706020507" pitchFamily="18" charset="2"/>
              </a:rPr>
              <a:t> </a:t>
            </a:r>
            <a:r>
              <a:rPr dirty="0"/>
              <a:t> </a:t>
            </a:r>
            <a:r>
              <a:rPr dirty="0" err="1"/>
              <a:t>إلى</a:t>
            </a:r>
            <a:r>
              <a:rPr dirty="0"/>
              <a:t> </a:t>
            </a:r>
            <a:r>
              <a:rPr dirty="0" err="1"/>
              <a:t>العرض</a:t>
            </a:r>
            <a:r>
              <a:rPr dirty="0"/>
              <a:t> </a:t>
            </a:r>
            <a:r>
              <a:rPr lang="en-US" dirty="0">
                <a:sym typeface="Symbol" panose="05050102010706020507" pitchFamily="18" charset="2"/>
              </a:rPr>
              <a:t> </a:t>
            </a:r>
            <a:r>
              <a:rPr lang="ar-SA" dirty="0">
                <a:sym typeface="Symbol" panose="05050102010706020507" pitchFamily="18" charset="2"/>
              </a:rPr>
              <a:t> </a:t>
            </a:r>
            <a:r>
              <a:rPr dirty="0" err="1"/>
              <a:t>إلى</a:t>
            </a:r>
            <a:r>
              <a:rPr dirty="0"/>
              <a:t> </a:t>
            </a:r>
            <a:r>
              <a:rPr dirty="0" err="1"/>
              <a:t>الأثر</a:t>
            </a:r>
            <a:r>
              <a:rPr dirty="0"/>
              <a:t>.</a:t>
            </a:r>
            <a:endParaRPr lang="ar-SA" dirty="0"/>
          </a:p>
          <a:p>
            <a:pPr algn="ctr" rtl="1">
              <a:defRPr sz="2200">
                <a:solidFill>
                  <a:srgbClr val="E5E7EB"/>
                </a:solidFill>
              </a:defRPr>
            </a:pPr>
            <a:endParaRPr sz="800" dirty="0">
              <a:solidFill>
                <a:srgbClr val="E5E7EB"/>
              </a:solidFill>
            </a:endParaRPr>
          </a:p>
          <a:p>
            <a:r>
              <a:rPr lang="en-US" dirty="0">
                <a:solidFill>
                  <a:srgbClr val="9CA3AF"/>
                </a:solidFill>
              </a:rPr>
              <a:t>“Imagine a group of friends who planned a trip and decided to split their expenses on a piece of paper. After enjoying the trip, they realized the paper was lost — and no one remembered who paid or how much!"</a:t>
            </a:r>
          </a:p>
          <a:p>
            <a:r>
              <a:rPr lang="en-US" dirty="0">
                <a:solidFill>
                  <a:srgbClr val="9CA3AF"/>
                </a:solidFill>
              </a:rPr>
              <a:t>That’s where the idea of Qattah was born — a simple and easy-to-use app that replaces papers, manual tables, and Excel sheets. Qattah automatically collects all expenses, splits them evenly, simplifies money transfers and communication between friends, calculates everything for you after every outing, and is available on all devices”</a:t>
            </a:r>
          </a:p>
          <a:p>
            <a:endParaRPr lang="en-US" sz="800" dirty="0">
              <a:solidFill>
                <a:srgbClr val="9CA3AF"/>
              </a:solidFill>
            </a:endParaRPr>
          </a:p>
          <a:p>
            <a:r>
              <a:rPr lang="en-US" dirty="0">
                <a:solidFill>
                  <a:srgbClr val="9CA3AF"/>
                </a:solidFill>
              </a:rPr>
              <a:t>From the problem ➜ to the solution ➜ to the demo ➜ to the impact.</a:t>
            </a:r>
          </a:p>
        </p:txBody>
      </p:sp>
      <p:sp>
        <p:nvSpPr>
          <p:cNvPr id="6" name="TextBox 5">
            <a:extLst>
              <a:ext uri="{FF2B5EF4-FFF2-40B4-BE49-F238E27FC236}">
                <a16:creationId xmlns:a16="http://schemas.microsoft.com/office/drawing/2014/main" id="{0AE85FB7-8235-F808-233A-6909AAA404B0}"/>
              </a:ext>
            </a:extLst>
          </p:cNvPr>
          <p:cNvSpPr txBox="1"/>
          <p:nvPr/>
        </p:nvSpPr>
        <p:spPr>
          <a:xfrm>
            <a:off x="645545" y="-37440"/>
            <a:ext cx="7999306" cy="1077218"/>
          </a:xfrm>
          <a:prstGeom prst="rect">
            <a:avLst/>
          </a:prstGeom>
          <a:noFill/>
        </p:spPr>
        <p:txBody>
          <a:bodyPr wrap="none">
            <a:spAutoFit/>
          </a:bodyPr>
          <a:lstStyle/>
          <a:p>
            <a:pPr algn="r">
              <a:defRPr sz="3800" b="1">
                <a:solidFill>
                  <a:srgbClr val="22C55E"/>
                </a:solidFill>
              </a:defRPr>
            </a:pPr>
            <a:r>
              <a:rPr lang="ar-SA" dirty="0"/>
              <a:t>القصة</a:t>
            </a:r>
            <a:endParaRPr dirty="0"/>
          </a:p>
          <a:p>
            <a:pPr>
              <a:defRPr sz="2600">
                <a:solidFill>
                  <a:srgbClr val="B4C8BE"/>
                </a:solidFill>
              </a:defRPr>
            </a:pPr>
            <a:r>
              <a:rPr lang="en-US" dirty="0"/>
              <a:t>Story</a:t>
            </a:r>
          </a:p>
        </p:txBody>
      </p:sp>
      <p:pic>
        <p:nvPicPr>
          <p:cNvPr id="7" name="Picture 6">
            <a:extLst>
              <a:ext uri="{FF2B5EF4-FFF2-40B4-BE49-F238E27FC236}">
                <a16:creationId xmlns:a16="http://schemas.microsoft.com/office/drawing/2014/main" id="{1EDBEF57-279E-BAC2-5ADE-86B180C76268}"/>
              </a:ext>
            </a:extLst>
          </p:cNvPr>
          <p:cNvPicPr>
            <a:picLocks noChangeAspect="1"/>
          </p:cNvPicPr>
          <p:nvPr/>
        </p:nvPicPr>
        <p:blipFill>
          <a:blip r:embed="rId3"/>
          <a:stretch>
            <a:fillRect/>
          </a:stretch>
        </p:blipFill>
        <p:spPr>
          <a:xfrm>
            <a:off x="4206240" y="14812"/>
            <a:ext cx="731520" cy="7315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gradFill rotWithShape="1">
            <a:gsLst>
              <a:gs pos="0">
                <a:srgbClr val="0B1220"/>
              </a:gs>
              <a:gs pos="100000">
                <a:srgbClr val="142319"/>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5460" y="228600"/>
            <a:ext cx="7847020" cy="1077218"/>
          </a:xfrm>
          <a:prstGeom prst="rect">
            <a:avLst/>
          </a:prstGeom>
          <a:noFill/>
        </p:spPr>
        <p:txBody>
          <a:bodyPr wrap="none">
            <a:spAutoFit/>
          </a:bodyPr>
          <a:lstStyle/>
          <a:p>
            <a:pPr algn="r">
              <a:defRPr sz="3800" b="1">
                <a:solidFill>
                  <a:srgbClr val="22C55E"/>
                </a:solidFill>
              </a:defRPr>
            </a:pPr>
            <a:r>
              <a:rPr dirty="0" err="1"/>
              <a:t>هوية</a:t>
            </a:r>
            <a:r>
              <a:rPr dirty="0"/>
              <a:t> </a:t>
            </a:r>
            <a:r>
              <a:rPr dirty="0" err="1"/>
              <a:t>المشروع</a:t>
            </a:r>
            <a:endParaRPr dirty="0"/>
          </a:p>
          <a:p>
            <a:pPr>
              <a:defRPr sz="2600">
                <a:solidFill>
                  <a:srgbClr val="B4C8BE"/>
                </a:solidFill>
              </a:defRPr>
            </a:pPr>
            <a:r>
              <a:rPr dirty="0"/>
              <a:t>Project Identity</a:t>
            </a:r>
          </a:p>
        </p:txBody>
      </p:sp>
      <p:sp>
        <p:nvSpPr>
          <p:cNvPr id="4" name="TextBox 3"/>
          <p:cNvSpPr txBox="1"/>
          <p:nvPr/>
        </p:nvSpPr>
        <p:spPr>
          <a:xfrm>
            <a:off x="731520" y="1828800"/>
            <a:ext cx="7772400" cy="3447098"/>
          </a:xfrm>
          <a:prstGeom prst="rect">
            <a:avLst/>
          </a:prstGeom>
          <a:noFill/>
        </p:spPr>
        <p:txBody>
          <a:bodyPr wrap="square">
            <a:spAutoFit/>
          </a:bodyPr>
          <a:lstStyle/>
          <a:p>
            <a:pPr algn="ctr" rtl="1">
              <a:defRPr sz="2200">
                <a:solidFill>
                  <a:srgbClr val="E5E7EB"/>
                </a:solidFill>
              </a:defRPr>
            </a:pPr>
            <a:r>
              <a:rPr lang="ar-SA" dirty="0"/>
              <a:t>المشروع— مستوحى من مفهوم المشاركة في المصاريف، </a:t>
            </a:r>
            <a:r>
              <a:rPr lang="ar-SA" dirty="0" err="1"/>
              <a:t>بالعاميه</a:t>
            </a:r>
            <a:r>
              <a:rPr lang="ar-SA" dirty="0"/>
              <a:t> (قَطّة)</a:t>
            </a:r>
          </a:p>
          <a:p>
            <a:pPr algn="ctr" rtl="1">
              <a:defRPr sz="1800">
                <a:solidFill>
                  <a:srgbClr val="9CA3AF"/>
                </a:solidFill>
              </a:defRPr>
            </a:pPr>
            <a:r>
              <a:rPr lang="en-US" dirty="0"/>
              <a:t>Qattah — Inspired by group expense sharing.</a:t>
            </a:r>
          </a:p>
          <a:p>
            <a:pPr algn="ctr" rtl="1">
              <a:defRPr sz="2200">
                <a:solidFill>
                  <a:srgbClr val="E5E7EB"/>
                </a:solidFill>
              </a:defRPr>
            </a:pPr>
            <a:r>
              <a:rPr lang="ar-SA" dirty="0"/>
              <a:t>مشروعنا يهدف إلى تبسيط تقسيم المصاريف بين الاعضاء بطريقة ذكية وسهلة.</a:t>
            </a:r>
          </a:p>
          <a:p>
            <a:pPr algn="ctr" rtl="1">
              <a:defRPr sz="1800">
                <a:solidFill>
                  <a:srgbClr val="9CA3AF"/>
                </a:solidFill>
              </a:defRPr>
            </a:pPr>
            <a:r>
              <a:rPr lang="en-US" dirty="0"/>
              <a:t>Our project simplifies splitting expenses among members in a smart, easy way.</a:t>
            </a:r>
          </a:p>
          <a:p>
            <a:pPr algn="ctr" rtl="1">
              <a:defRPr sz="2200">
                <a:solidFill>
                  <a:srgbClr val="E5E7EB"/>
                </a:solidFill>
              </a:defRPr>
            </a:pPr>
            <a:r>
              <a:rPr lang="ar-SA" dirty="0"/>
              <a:t>اعتمدنا في تصميم </a:t>
            </a:r>
            <a:r>
              <a:rPr lang="en-US" dirty="0"/>
              <a:t>Qattah </a:t>
            </a:r>
            <a:r>
              <a:rPr lang="ar-SA" dirty="0"/>
              <a:t> على هوية تعكس الثقة والبساطة.</a:t>
            </a:r>
          </a:p>
          <a:p>
            <a:pPr algn="ctr" rtl="1">
              <a:defRPr sz="1800">
                <a:solidFill>
                  <a:srgbClr val="9CA3AF"/>
                </a:solidFill>
              </a:defRPr>
            </a:pPr>
            <a:r>
              <a:rPr lang="en-US" dirty="0"/>
              <a:t>Our design focuses on trust and simplicity.</a:t>
            </a:r>
          </a:p>
          <a:p>
            <a:pPr algn="ctr" rtl="1">
              <a:defRPr sz="2200">
                <a:solidFill>
                  <a:srgbClr val="E5E7EB"/>
                </a:solidFill>
              </a:defRPr>
            </a:pPr>
            <a:r>
              <a:rPr lang="ar-SA" dirty="0"/>
              <a:t>ركزنا على واجهة سهلة الاستخدام وألوان هادئة توصل الفكرة المالية بشكل واضح.</a:t>
            </a:r>
          </a:p>
          <a:p>
            <a:pPr algn="ctr" rtl="1">
              <a:defRPr sz="1800">
                <a:solidFill>
                  <a:srgbClr val="9CA3AF"/>
                </a:solidFill>
              </a:defRPr>
            </a:pPr>
            <a:r>
              <a:rPr lang="en-US" dirty="0"/>
              <a:t>We built a clean, user-friendly interface with calm colors that reflect the finance theme.</a:t>
            </a:r>
          </a:p>
          <a:p>
            <a:pPr algn="ctr" rtl="1">
              <a:defRPr sz="2200">
                <a:solidFill>
                  <a:srgbClr val="E5E7EB"/>
                </a:solidFill>
              </a:defRPr>
            </a:pPr>
            <a:r>
              <a:rPr lang="ar-SA" dirty="0"/>
              <a:t>الألوان: الأخضر للثقة والمال، الخلفية الداكنة للتركيز.</a:t>
            </a:r>
          </a:p>
          <a:p>
            <a:pPr algn="ctr" rtl="1">
              <a:defRPr sz="1800">
                <a:solidFill>
                  <a:srgbClr val="9CA3AF"/>
                </a:solidFill>
              </a:defRPr>
            </a:pPr>
            <a:r>
              <a:rPr lang="en-US" dirty="0"/>
              <a:t>Colors: Green for trust and finance, dark background for focus</a:t>
            </a:r>
          </a:p>
        </p:txBody>
      </p:sp>
      <p:pic>
        <p:nvPicPr>
          <p:cNvPr id="5" name="Picture 4">
            <a:extLst>
              <a:ext uri="{FF2B5EF4-FFF2-40B4-BE49-F238E27FC236}">
                <a16:creationId xmlns:a16="http://schemas.microsoft.com/office/drawing/2014/main" id="{08D048C0-F67D-8444-A79B-F472D29BB905}"/>
              </a:ext>
            </a:extLst>
          </p:cNvPr>
          <p:cNvPicPr>
            <a:picLocks noChangeAspect="1"/>
          </p:cNvPicPr>
          <p:nvPr/>
        </p:nvPicPr>
        <p:blipFill>
          <a:blip r:embed="rId3"/>
          <a:stretch>
            <a:fillRect/>
          </a:stretch>
        </p:blipFill>
        <p:spPr>
          <a:xfrm>
            <a:off x="4123210" y="228600"/>
            <a:ext cx="731520" cy="7315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gradFill rotWithShape="1">
            <a:gsLst>
              <a:gs pos="0">
                <a:srgbClr val="0B1220"/>
              </a:gs>
              <a:gs pos="100000">
                <a:srgbClr val="142319"/>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292418"/>
            <a:ext cx="8183880" cy="1077218"/>
          </a:xfrm>
          <a:prstGeom prst="rect">
            <a:avLst/>
          </a:prstGeom>
          <a:noFill/>
        </p:spPr>
        <p:txBody>
          <a:bodyPr wrap="square">
            <a:spAutoFit/>
          </a:bodyPr>
          <a:lstStyle/>
          <a:p>
            <a:pPr algn="r">
              <a:defRPr sz="3800" b="1">
                <a:solidFill>
                  <a:srgbClr val="22C55E"/>
                </a:solidFill>
              </a:defRPr>
            </a:pPr>
            <a:r>
              <a:rPr dirty="0" err="1"/>
              <a:t>التقنيات</a:t>
            </a:r>
            <a:r>
              <a:rPr dirty="0"/>
              <a:t> </a:t>
            </a:r>
            <a:r>
              <a:rPr dirty="0" err="1"/>
              <a:t>المستخدمة</a:t>
            </a:r>
            <a:endParaRPr dirty="0"/>
          </a:p>
          <a:p>
            <a:pPr>
              <a:defRPr sz="2600">
                <a:solidFill>
                  <a:srgbClr val="B4C8BE"/>
                </a:solidFill>
              </a:defRPr>
            </a:pPr>
            <a:r>
              <a:rPr dirty="0"/>
              <a:t>Technologies Used</a:t>
            </a:r>
          </a:p>
        </p:txBody>
      </p:sp>
      <p:sp>
        <p:nvSpPr>
          <p:cNvPr id="4" name="TextBox 3"/>
          <p:cNvSpPr txBox="1"/>
          <p:nvPr/>
        </p:nvSpPr>
        <p:spPr>
          <a:xfrm>
            <a:off x="1115178" y="1860202"/>
            <a:ext cx="6913643" cy="3447098"/>
          </a:xfrm>
          <a:prstGeom prst="rect">
            <a:avLst/>
          </a:prstGeom>
          <a:noFill/>
        </p:spPr>
        <p:txBody>
          <a:bodyPr wrap="square">
            <a:spAutoFit/>
          </a:bodyPr>
          <a:lstStyle/>
          <a:p>
            <a:pPr algn="ctr" rtl="1"/>
            <a:endParaRPr lang="ar-SA" dirty="0"/>
          </a:p>
          <a:p>
            <a:pPr algn="ctr" rtl="1">
              <a:defRPr sz="2200">
                <a:solidFill>
                  <a:srgbClr val="E5E7EB"/>
                </a:solidFill>
              </a:defRPr>
            </a:pPr>
            <a:r>
              <a:rPr lang="ar-SA" dirty="0"/>
              <a:t>استخدمنا أدوات حديثة مثل</a:t>
            </a:r>
            <a:r>
              <a:rPr lang="en-US" dirty="0" err="1"/>
              <a:t>Supabase</a:t>
            </a:r>
            <a:r>
              <a:rPr lang="en-US" dirty="0"/>
              <a:t>  </a:t>
            </a:r>
            <a:r>
              <a:rPr lang="ar-SA" dirty="0"/>
              <a:t> لإدارة قاعدة البيانات والمصادقة والتخزين.</a:t>
            </a:r>
          </a:p>
          <a:p>
            <a:pPr algn="ctr" rtl="1">
              <a:defRPr sz="1800">
                <a:solidFill>
                  <a:srgbClr val="9CA3AF"/>
                </a:solidFill>
              </a:defRPr>
            </a:pPr>
            <a:r>
              <a:rPr lang="en-US" dirty="0"/>
              <a:t>We used modern tools such as </a:t>
            </a:r>
            <a:r>
              <a:rPr lang="en-US" dirty="0" err="1"/>
              <a:t>Supabase</a:t>
            </a:r>
            <a:r>
              <a:rPr lang="en-US" dirty="0"/>
              <a:t> for database, auth, and storage.</a:t>
            </a:r>
          </a:p>
          <a:p>
            <a:pPr algn="ctr" rtl="1">
              <a:defRPr sz="2200">
                <a:solidFill>
                  <a:srgbClr val="E5E7EB"/>
                </a:solidFill>
              </a:defRPr>
            </a:pPr>
            <a:r>
              <a:rPr lang="ar-SA" dirty="0"/>
              <a:t>واستخدمنا</a:t>
            </a:r>
            <a:r>
              <a:rPr lang="en-US" dirty="0"/>
              <a:t> Railway  </a:t>
            </a:r>
            <a:r>
              <a:rPr lang="ar-SA" dirty="0" err="1"/>
              <a:t>للنشرالسريع</a:t>
            </a:r>
            <a:r>
              <a:rPr lang="ar-SA" dirty="0"/>
              <a:t> والفعال، وللواجهة </a:t>
            </a:r>
            <a:r>
              <a:rPr lang="en-US" dirty="0"/>
              <a:t>React + Tailwind.</a:t>
            </a:r>
          </a:p>
          <a:p>
            <a:pPr algn="ctr" rtl="1">
              <a:defRPr sz="1800">
                <a:solidFill>
                  <a:srgbClr val="9CA3AF"/>
                </a:solidFill>
              </a:defRPr>
            </a:pPr>
            <a:r>
              <a:rPr lang="en-US" dirty="0"/>
              <a:t>Railway for efficient deployment, and React + Tailwind for the frontend.</a:t>
            </a:r>
          </a:p>
          <a:p>
            <a:pPr algn="ctr" rtl="1">
              <a:defRPr sz="2200">
                <a:solidFill>
                  <a:srgbClr val="E5E7EB"/>
                </a:solidFill>
              </a:defRPr>
            </a:pPr>
            <a:r>
              <a:rPr lang="ar-SA" dirty="0" err="1"/>
              <a:t>ولأختبارالتطبيق</a:t>
            </a:r>
            <a:r>
              <a:rPr lang="ar-SA" dirty="0"/>
              <a:t>: </a:t>
            </a:r>
            <a:r>
              <a:rPr lang="en-US" dirty="0"/>
              <a:t>Postman</a:t>
            </a:r>
          </a:p>
          <a:p>
            <a:pPr algn="ctr" rtl="1">
              <a:defRPr sz="1800">
                <a:solidFill>
                  <a:srgbClr val="9CA3AF"/>
                </a:solidFill>
              </a:defRPr>
            </a:pPr>
            <a:r>
              <a:rPr lang="en-US" dirty="0"/>
              <a:t>Testing: Postman</a:t>
            </a:r>
          </a:p>
          <a:p>
            <a:pPr algn="ctr" rtl="1">
              <a:defRPr sz="2200">
                <a:solidFill>
                  <a:srgbClr val="E5E7EB"/>
                </a:solidFill>
              </a:defRPr>
            </a:pPr>
            <a:r>
              <a:rPr lang="ar-SA" dirty="0"/>
              <a:t>ول</a:t>
            </a:r>
            <a:r>
              <a:rPr dirty="0" err="1"/>
              <a:t>لتعاون</a:t>
            </a:r>
            <a:r>
              <a:rPr lang="en-US" dirty="0"/>
              <a:t> </a:t>
            </a:r>
            <a:r>
              <a:rPr lang="ar-SA" dirty="0"/>
              <a:t>بين أعضاء الفريق</a:t>
            </a:r>
            <a:r>
              <a:rPr dirty="0"/>
              <a:t>:  GitHub + Telegram</a:t>
            </a:r>
            <a:r>
              <a:rPr lang="en-US" dirty="0"/>
              <a:t> </a:t>
            </a:r>
            <a:endParaRPr dirty="0"/>
          </a:p>
          <a:p>
            <a:pPr algn="ctr" rtl="1">
              <a:defRPr sz="1800">
                <a:solidFill>
                  <a:srgbClr val="9CA3AF"/>
                </a:solidFill>
              </a:defRPr>
            </a:pPr>
            <a:r>
              <a:rPr dirty="0"/>
              <a:t>Collaboration:  GitHub + Telegram</a:t>
            </a:r>
          </a:p>
        </p:txBody>
      </p:sp>
      <p:pic>
        <p:nvPicPr>
          <p:cNvPr id="5" name="Picture 4">
            <a:extLst>
              <a:ext uri="{FF2B5EF4-FFF2-40B4-BE49-F238E27FC236}">
                <a16:creationId xmlns:a16="http://schemas.microsoft.com/office/drawing/2014/main" id="{D0DBF51A-E9CD-8206-8F35-A30B83264E13}"/>
              </a:ext>
            </a:extLst>
          </p:cNvPr>
          <p:cNvPicPr>
            <a:picLocks noChangeAspect="1"/>
          </p:cNvPicPr>
          <p:nvPr/>
        </p:nvPicPr>
        <p:blipFill>
          <a:blip r:embed="rId3"/>
          <a:stretch>
            <a:fillRect/>
          </a:stretch>
        </p:blipFill>
        <p:spPr>
          <a:xfrm>
            <a:off x="4160520" y="292418"/>
            <a:ext cx="731520" cy="7315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gradFill rotWithShape="1">
            <a:gsLst>
              <a:gs pos="0">
                <a:srgbClr val="0B1220"/>
              </a:gs>
              <a:gs pos="100000">
                <a:srgbClr val="142319"/>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7772399" cy="1077218"/>
          </a:xfrm>
          <a:prstGeom prst="rect">
            <a:avLst/>
          </a:prstGeom>
          <a:noFill/>
        </p:spPr>
        <p:txBody>
          <a:bodyPr wrap="square">
            <a:spAutoFit/>
          </a:bodyPr>
          <a:lstStyle/>
          <a:p>
            <a:pPr algn="r">
              <a:defRPr sz="3800" b="1">
                <a:solidFill>
                  <a:srgbClr val="22C55E"/>
                </a:solidFill>
              </a:defRPr>
            </a:pPr>
            <a:r>
              <a:rPr dirty="0" err="1"/>
              <a:t>الدروس</a:t>
            </a:r>
            <a:r>
              <a:rPr dirty="0"/>
              <a:t> </a:t>
            </a:r>
            <a:r>
              <a:rPr dirty="0" err="1"/>
              <a:t>المستفادة</a:t>
            </a:r>
            <a:endParaRPr dirty="0"/>
          </a:p>
          <a:p>
            <a:pPr>
              <a:defRPr sz="2600">
                <a:solidFill>
                  <a:srgbClr val="B4C8BE"/>
                </a:solidFill>
              </a:defRPr>
            </a:pPr>
            <a:r>
              <a:rPr dirty="0"/>
              <a:t>Lessons Learned</a:t>
            </a:r>
          </a:p>
        </p:txBody>
      </p:sp>
      <p:sp>
        <p:nvSpPr>
          <p:cNvPr id="4" name="TextBox 3"/>
          <p:cNvSpPr txBox="1"/>
          <p:nvPr/>
        </p:nvSpPr>
        <p:spPr>
          <a:xfrm>
            <a:off x="640080" y="1828800"/>
            <a:ext cx="7772399" cy="2831544"/>
          </a:xfrm>
          <a:prstGeom prst="rect">
            <a:avLst/>
          </a:prstGeom>
          <a:noFill/>
        </p:spPr>
        <p:txBody>
          <a:bodyPr wrap="square">
            <a:spAutoFit/>
          </a:bodyPr>
          <a:lstStyle/>
          <a:p>
            <a:pPr algn="ctr" rtl="1"/>
            <a:endParaRPr dirty="0"/>
          </a:p>
          <a:p>
            <a:pPr algn="ctr" rtl="1">
              <a:defRPr sz="2200">
                <a:solidFill>
                  <a:srgbClr val="E5E7EB"/>
                </a:solidFill>
              </a:defRPr>
            </a:pPr>
            <a:r>
              <a:rPr dirty="0" err="1"/>
              <a:t>توزيع</a:t>
            </a:r>
            <a:r>
              <a:rPr dirty="0"/>
              <a:t> </a:t>
            </a:r>
            <a:r>
              <a:rPr dirty="0" err="1"/>
              <a:t>المهام</a:t>
            </a:r>
            <a:r>
              <a:rPr dirty="0"/>
              <a:t> </a:t>
            </a:r>
            <a:r>
              <a:rPr dirty="0" err="1"/>
              <a:t>الواضح</a:t>
            </a:r>
            <a:r>
              <a:rPr dirty="0"/>
              <a:t> </a:t>
            </a:r>
            <a:r>
              <a:rPr dirty="0" err="1"/>
              <a:t>زاد</a:t>
            </a:r>
            <a:r>
              <a:rPr dirty="0"/>
              <a:t> </a:t>
            </a:r>
            <a:r>
              <a:rPr dirty="0" err="1"/>
              <a:t>سرعة</a:t>
            </a:r>
            <a:r>
              <a:rPr dirty="0"/>
              <a:t> </a:t>
            </a:r>
            <a:r>
              <a:rPr dirty="0" err="1"/>
              <a:t>التطوير</a:t>
            </a:r>
            <a:r>
              <a:rPr dirty="0"/>
              <a:t>.</a:t>
            </a:r>
          </a:p>
          <a:p>
            <a:pPr algn="ctr" rtl="1">
              <a:defRPr sz="1800">
                <a:solidFill>
                  <a:srgbClr val="9CA3AF"/>
                </a:solidFill>
              </a:defRPr>
            </a:pPr>
            <a:r>
              <a:rPr dirty="0"/>
              <a:t>Clear task division increased speed.</a:t>
            </a:r>
          </a:p>
          <a:p>
            <a:pPr algn="ctr" rtl="1">
              <a:defRPr sz="2200">
                <a:solidFill>
                  <a:srgbClr val="E5E7EB"/>
                </a:solidFill>
              </a:defRPr>
            </a:pPr>
            <a:r>
              <a:rPr dirty="0" err="1"/>
              <a:t>الدمج</a:t>
            </a:r>
            <a:r>
              <a:rPr dirty="0"/>
              <a:t> </a:t>
            </a:r>
            <a:r>
              <a:rPr dirty="0" err="1"/>
              <a:t>المبكر</a:t>
            </a:r>
            <a:r>
              <a:rPr dirty="0"/>
              <a:t> </a:t>
            </a:r>
            <a:r>
              <a:rPr dirty="0" err="1"/>
              <a:t>قلل</a:t>
            </a:r>
            <a:r>
              <a:rPr dirty="0"/>
              <a:t> </a:t>
            </a:r>
            <a:r>
              <a:rPr dirty="0" err="1"/>
              <a:t>الأخطاء</a:t>
            </a:r>
            <a:r>
              <a:rPr dirty="0"/>
              <a:t>.</a:t>
            </a:r>
          </a:p>
          <a:p>
            <a:pPr algn="ctr" rtl="1">
              <a:defRPr sz="1800">
                <a:solidFill>
                  <a:srgbClr val="9CA3AF"/>
                </a:solidFill>
              </a:defRPr>
            </a:pPr>
            <a:r>
              <a:rPr dirty="0"/>
              <a:t>Early integration reduced bugs.</a:t>
            </a:r>
          </a:p>
          <a:p>
            <a:pPr algn="ctr" rtl="1">
              <a:defRPr sz="2200">
                <a:solidFill>
                  <a:srgbClr val="E5E7EB"/>
                </a:solidFill>
              </a:defRPr>
            </a:pPr>
            <a:r>
              <a:rPr dirty="0" err="1"/>
              <a:t>الحاجة</a:t>
            </a:r>
            <a:r>
              <a:rPr dirty="0"/>
              <a:t> </a:t>
            </a:r>
            <a:r>
              <a:rPr dirty="0" err="1"/>
              <a:t>لوقت</a:t>
            </a:r>
            <a:r>
              <a:rPr dirty="0"/>
              <a:t> </a:t>
            </a:r>
            <a:r>
              <a:rPr dirty="0" err="1"/>
              <a:t>إضافي</a:t>
            </a:r>
            <a:r>
              <a:rPr dirty="0"/>
              <a:t> </a:t>
            </a:r>
            <a:r>
              <a:rPr dirty="0" err="1"/>
              <a:t>لاختبار</a:t>
            </a:r>
            <a:r>
              <a:rPr dirty="0"/>
              <a:t> </a:t>
            </a:r>
            <a:r>
              <a:rPr dirty="0" err="1"/>
              <a:t>الواجهة</a:t>
            </a:r>
            <a:r>
              <a:rPr dirty="0"/>
              <a:t>.</a:t>
            </a:r>
          </a:p>
          <a:p>
            <a:pPr algn="ctr" rtl="1">
              <a:defRPr sz="1800">
                <a:solidFill>
                  <a:srgbClr val="9CA3AF"/>
                </a:solidFill>
              </a:defRPr>
            </a:pPr>
            <a:r>
              <a:rPr dirty="0"/>
              <a:t>Need more UI testing time.</a:t>
            </a:r>
          </a:p>
          <a:p>
            <a:pPr algn="ctr" rtl="1">
              <a:defRPr sz="2200">
                <a:solidFill>
                  <a:srgbClr val="E5E7EB"/>
                </a:solidFill>
              </a:defRPr>
            </a:pPr>
            <a:r>
              <a:rPr dirty="0" err="1"/>
              <a:t>التخطيط</a:t>
            </a:r>
            <a:r>
              <a:rPr dirty="0"/>
              <a:t> </a:t>
            </a:r>
            <a:r>
              <a:rPr dirty="0" err="1"/>
              <a:t>لاختبارات</a:t>
            </a:r>
            <a:r>
              <a:rPr dirty="0"/>
              <a:t> </a:t>
            </a:r>
            <a:r>
              <a:rPr dirty="0" err="1"/>
              <a:t>وحدات</a:t>
            </a:r>
            <a:r>
              <a:rPr dirty="0"/>
              <a:t> CI/CD.</a:t>
            </a:r>
          </a:p>
          <a:p>
            <a:pPr algn="ctr" rtl="1">
              <a:defRPr sz="1800">
                <a:solidFill>
                  <a:srgbClr val="9CA3AF"/>
                </a:solidFill>
              </a:defRPr>
            </a:pPr>
            <a:r>
              <a:rPr dirty="0"/>
              <a:t>Plan to add CI/CD unit tests.</a:t>
            </a:r>
          </a:p>
        </p:txBody>
      </p:sp>
      <p:pic>
        <p:nvPicPr>
          <p:cNvPr id="5" name="Picture 4">
            <a:extLst>
              <a:ext uri="{FF2B5EF4-FFF2-40B4-BE49-F238E27FC236}">
                <a16:creationId xmlns:a16="http://schemas.microsoft.com/office/drawing/2014/main" id="{051ED743-1BCF-2C4D-7B2B-0A2A75544D7E}"/>
              </a:ext>
            </a:extLst>
          </p:cNvPr>
          <p:cNvPicPr>
            <a:picLocks noChangeAspect="1"/>
          </p:cNvPicPr>
          <p:nvPr/>
        </p:nvPicPr>
        <p:blipFill>
          <a:blip r:embed="rId3"/>
          <a:stretch>
            <a:fillRect/>
          </a:stretch>
        </p:blipFill>
        <p:spPr>
          <a:xfrm>
            <a:off x="4206240" y="365760"/>
            <a:ext cx="731520" cy="7315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gradFill rotWithShape="1">
            <a:gsLst>
              <a:gs pos="0">
                <a:srgbClr val="0B1220"/>
              </a:gs>
              <a:gs pos="100000">
                <a:srgbClr val="142319"/>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1" y="365760"/>
            <a:ext cx="7772398" cy="1077218"/>
          </a:xfrm>
          <a:prstGeom prst="rect">
            <a:avLst/>
          </a:prstGeom>
          <a:noFill/>
        </p:spPr>
        <p:txBody>
          <a:bodyPr wrap="square">
            <a:spAutoFit/>
          </a:bodyPr>
          <a:lstStyle/>
          <a:p>
            <a:pPr algn="r">
              <a:defRPr sz="3800" b="1">
                <a:solidFill>
                  <a:srgbClr val="22C55E"/>
                </a:solidFill>
              </a:defRPr>
            </a:pPr>
            <a:r>
              <a:rPr dirty="0" err="1"/>
              <a:t>نظرة</a:t>
            </a:r>
            <a:r>
              <a:rPr dirty="0"/>
              <a:t> </a:t>
            </a:r>
            <a:r>
              <a:rPr dirty="0" err="1"/>
              <a:t>الفريق</a:t>
            </a:r>
            <a:endParaRPr dirty="0"/>
          </a:p>
          <a:p>
            <a:pPr>
              <a:defRPr sz="2600">
                <a:solidFill>
                  <a:srgbClr val="B4C8BE"/>
                </a:solidFill>
              </a:defRPr>
            </a:pPr>
            <a:r>
              <a:rPr dirty="0"/>
              <a:t>Team Retrospective</a:t>
            </a:r>
          </a:p>
        </p:txBody>
      </p:sp>
      <p:sp>
        <p:nvSpPr>
          <p:cNvPr id="4" name="TextBox 3"/>
          <p:cNvSpPr txBox="1"/>
          <p:nvPr/>
        </p:nvSpPr>
        <p:spPr>
          <a:xfrm>
            <a:off x="640080" y="1828800"/>
            <a:ext cx="7772399" cy="2831544"/>
          </a:xfrm>
          <a:prstGeom prst="rect">
            <a:avLst/>
          </a:prstGeom>
          <a:noFill/>
        </p:spPr>
        <p:txBody>
          <a:bodyPr wrap="square">
            <a:spAutoFit/>
          </a:bodyPr>
          <a:lstStyle/>
          <a:p>
            <a:pPr algn="ctr" rtl="1"/>
            <a:endParaRPr dirty="0"/>
          </a:p>
          <a:p>
            <a:pPr algn="ctr" rtl="1">
              <a:defRPr sz="2200">
                <a:solidFill>
                  <a:srgbClr val="E5E7EB"/>
                </a:solidFill>
              </a:defRPr>
            </a:pPr>
            <a:r>
              <a:rPr lang="ar-SA" dirty="0"/>
              <a:t>النجاح</a:t>
            </a:r>
            <a:r>
              <a:rPr lang="en-US" dirty="0"/>
              <a:t>: </a:t>
            </a:r>
            <a:r>
              <a:rPr lang="ar-SA" dirty="0"/>
              <a:t>في </a:t>
            </a:r>
            <a:r>
              <a:rPr dirty="0" err="1"/>
              <a:t>التواصل</a:t>
            </a:r>
            <a:r>
              <a:rPr dirty="0"/>
              <a:t> </a:t>
            </a:r>
            <a:r>
              <a:rPr dirty="0" err="1"/>
              <a:t>القوي</a:t>
            </a:r>
            <a:r>
              <a:rPr dirty="0"/>
              <a:t> </a:t>
            </a:r>
            <a:r>
              <a:rPr dirty="0" err="1"/>
              <a:t>ووضوح</a:t>
            </a:r>
            <a:r>
              <a:rPr dirty="0"/>
              <a:t> </a:t>
            </a:r>
            <a:r>
              <a:rPr dirty="0" err="1"/>
              <a:t>الأدوار</a:t>
            </a:r>
            <a:r>
              <a:rPr dirty="0"/>
              <a:t>.</a:t>
            </a:r>
          </a:p>
          <a:p>
            <a:pPr algn="ctr" rtl="1">
              <a:defRPr sz="1800">
                <a:solidFill>
                  <a:srgbClr val="9CA3AF"/>
                </a:solidFill>
              </a:defRPr>
            </a:pPr>
            <a:r>
              <a:rPr dirty="0"/>
              <a:t>What worked: Clear roles &amp; communication.</a:t>
            </a:r>
          </a:p>
          <a:p>
            <a:pPr algn="ctr" rtl="1">
              <a:defRPr sz="2200">
                <a:solidFill>
                  <a:srgbClr val="E5E7EB"/>
                </a:solidFill>
              </a:defRPr>
            </a:pPr>
            <a:r>
              <a:rPr dirty="0" err="1"/>
              <a:t>التحديات</a:t>
            </a:r>
            <a:r>
              <a:rPr dirty="0"/>
              <a:t>: </a:t>
            </a:r>
            <a:r>
              <a:rPr dirty="0" err="1"/>
              <a:t>إدارة</a:t>
            </a:r>
            <a:r>
              <a:rPr dirty="0"/>
              <a:t> </a:t>
            </a:r>
            <a:r>
              <a:rPr dirty="0" err="1"/>
              <a:t>الوقت</a:t>
            </a:r>
            <a:r>
              <a:rPr dirty="0"/>
              <a:t> </a:t>
            </a:r>
            <a:r>
              <a:rPr dirty="0" err="1"/>
              <a:t>واختبارات</a:t>
            </a:r>
            <a:r>
              <a:rPr dirty="0"/>
              <a:t> </a:t>
            </a:r>
            <a:r>
              <a:rPr dirty="0" err="1"/>
              <a:t>الواجهة</a:t>
            </a:r>
            <a:r>
              <a:rPr dirty="0"/>
              <a:t>.</a:t>
            </a:r>
          </a:p>
          <a:p>
            <a:pPr algn="ctr" rtl="1">
              <a:defRPr sz="1800">
                <a:solidFill>
                  <a:srgbClr val="9CA3AF"/>
                </a:solidFill>
              </a:defRPr>
            </a:pPr>
            <a:r>
              <a:rPr dirty="0"/>
              <a:t>Challenges: Time &amp; testing balance.</a:t>
            </a:r>
          </a:p>
          <a:p>
            <a:pPr algn="ctr" rtl="1">
              <a:defRPr sz="2200">
                <a:solidFill>
                  <a:srgbClr val="E5E7EB"/>
                </a:solidFill>
              </a:defRPr>
            </a:pPr>
            <a:r>
              <a:rPr dirty="0" err="1"/>
              <a:t>التحسينات</a:t>
            </a:r>
            <a:r>
              <a:rPr dirty="0"/>
              <a:t>: </a:t>
            </a:r>
            <a:r>
              <a:rPr dirty="0" err="1"/>
              <a:t>توثيق</a:t>
            </a:r>
            <a:r>
              <a:rPr dirty="0"/>
              <a:t> </a:t>
            </a:r>
            <a:r>
              <a:rPr dirty="0" err="1"/>
              <a:t>أدق</a:t>
            </a:r>
            <a:r>
              <a:rPr dirty="0"/>
              <a:t> </a:t>
            </a:r>
            <a:r>
              <a:rPr dirty="0" err="1"/>
              <a:t>وتتبع</a:t>
            </a:r>
            <a:r>
              <a:rPr dirty="0"/>
              <a:t> </a:t>
            </a:r>
            <a:r>
              <a:rPr dirty="0" err="1"/>
              <a:t>أفضل</a:t>
            </a:r>
            <a:r>
              <a:rPr dirty="0"/>
              <a:t> </a:t>
            </a:r>
            <a:r>
              <a:rPr dirty="0" err="1"/>
              <a:t>للمهام</a:t>
            </a:r>
            <a:r>
              <a:rPr dirty="0"/>
              <a:t>.</a:t>
            </a:r>
          </a:p>
          <a:p>
            <a:pPr algn="ctr" rtl="1">
              <a:defRPr sz="1800">
                <a:solidFill>
                  <a:srgbClr val="9CA3AF"/>
                </a:solidFill>
              </a:defRPr>
            </a:pPr>
            <a:r>
              <a:rPr dirty="0"/>
              <a:t>Improvements: Better documentation &amp; tracking.</a:t>
            </a:r>
          </a:p>
          <a:p>
            <a:pPr algn="ctr" rtl="1">
              <a:defRPr sz="2200">
                <a:solidFill>
                  <a:srgbClr val="E5E7EB"/>
                </a:solidFill>
              </a:defRPr>
            </a:pPr>
            <a:r>
              <a:rPr dirty="0" err="1"/>
              <a:t>النتيجة</a:t>
            </a:r>
            <a:r>
              <a:rPr dirty="0"/>
              <a:t>: </a:t>
            </a:r>
            <a:r>
              <a:rPr dirty="0" err="1"/>
              <a:t>روح</a:t>
            </a:r>
            <a:r>
              <a:rPr dirty="0"/>
              <a:t> </a:t>
            </a:r>
            <a:r>
              <a:rPr dirty="0" err="1"/>
              <a:t>فريق</a:t>
            </a:r>
            <a:r>
              <a:rPr dirty="0"/>
              <a:t> </a:t>
            </a:r>
            <a:r>
              <a:rPr dirty="0" err="1"/>
              <a:t>متعاونة</a:t>
            </a:r>
            <a:r>
              <a:rPr dirty="0"/>
              <a:t>.</a:t>
            </a:r>
          </a:p>
          <a:p>
            <a:pPr algn="ctr" rtl="1">
              <a:defRPr sz="1800">
                <a:solidFill>
                  <a:srgbClr val="9CA3AF"/>
                </a:solidFill>
              </a:defRPr>
            </a:pPr>
            <a:r>
              <a:rPr dirty="0"/>
              <a:t>Outcome: Strong collaboration.</a:t>
            </a:r>
          </a:p>
        </p:txBody>
      </p:sp>
      <p:pic>
        <p:nvPicPr>
          <p:cNvPr id="5" name="Picture 4">
            <a:extLst>
              <a:ext uri="{FF2B5EF4-FFF2-40B4-BE49-F238E27FC236}">
                <a16:creationId xmlns:a16="http://schemas.microsoft.com/office/drawing/2014/main" id="{E5EE01FB-22E3-8108-DA77-3908FC3BAF6B}"/>
              </a:ext>
            </a:extLst>
          </p:cNvPr>
          <p:cNvPicPr>
            <a:picLocks noChangeAspect="1"/>
          </p:cNvPicPr>
          <p:nvPr/>
        </p:nvPicPr>
        <p:blipFill>
          <a:blip r:embed="rId3"/>
          <a:stretch>
            <a:fillRect/>
          </a:stretch>
        </p:blipFill>
        <p:spPr>
          <a:xfrm>
            <a:off x="4204314" y="331470"/>
            <a:ext cx="731520" cy="7315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gradFill rotWithShape="1">
            <a:gsLst>
              <a:gs pos="0">
                <a:srgbClr val="0B1220"/>
              </a:gs>
              <a:gs pos="100000">
                <a:srgbClr val="142319"/>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89994"/>
            <a:ext cx="7772400" cy="1077218"/>
          </a:xfrm>
          <a:prstGeom prst="rect">
            <a:avLst/>
          </a:prstGeom>
          <a:noFill/>
        </p:spPr>
        <p:txBody>
          <a:bodyPr wrap="square">
            <a:spAutoFit/>
          </a:bodyPr>
          <a:lstStyle/>
          <a:p>
            <a:pPr algn="r">
              <a:defRPr sz="3800" b="1">
                <a:solidFill>
                  <a:srgbClr val="22C55E"/>
                </a:solidFill>
              </a:defRPr>
            </a:pPr>
            <a:r>
              <a:rPr dirty="0" err="1"/>
              <a:t>العرض</a:t>
            </a:r>
            <a:r>
              <a:rPr dirty="0"/>
              <a:t> </a:t>
            </a:r>
            <a:r>
              <a:rPr dirty="0" err="1"/>
              <a:t>التجريبي</a:t>
            </a:r>
            <a:endParaRPr dirty="0"/>
          </a:p>
          <a:p>
            <a:pPr>
              <a:defRPr sz="2600">
                <a:solidFill>
                  <a:srgbClr val="B4C8BE"/>
                </a:solidFill>
              </a:defRPr>
            </a:pPr>
            <a:r>
              <a:rPr lang="en-US" dirty="0"/>
              <a:t>Live </a:t>
            </a:r>
            <a:r>
              <a:rPr dirty="0"/>
              <a:t>Demo</a:t>
            </a:r>
          </a:p>
        </p:txBody>
      </p:sp>
      <p:sp>
        <p:nvSpPr>
          <p:cNvPr id="4" name="TextBox 3"/>
          <p:cNvSpPr txBox="1"/>
          <p:nvPr/>
        </p:nvSpPr>
        <p:spPr>
          <a:xfrm>
            <a:off x="653506" y="832578"/>
            <a:ext cx="7772400" cy="5909310"/>
          </a:xfrm>
          <a:prstGeom prst="rect">
            <a:avLst/>
          </a:prstGeom>
          <a:noFill/>
        </p:spPr>
        <p:txBody>
          <a:bodyPr wrap="square">
            <a:spAutoFit/>
          </a:bodyPr>
          <a:lstStyle/>
          <a:p>
            <a:pPr algn="ctr" rtl="1"/>
            <a:endParaRPr dirty="0"/>
          </a:p>
          <a:p>
            <a:pPr algn="ctr" rtl="1">
              <a:defRPr sz="2200">
                <a:solidFill>
                  <a:srgbClr val="E5E7EB"/>
                </a:solidFill>
              </a:defRPr>
            </a:pPr>
            <a:r>
              <a:rPr lang="ar-SA" dirty="0"/>
              <a:t>الآن سنعرض لكم تجربة حية للتطبيق.</a:t>
            </a:r>
          </a:p>
          <a:p>
            <a:pPr algn="ctr" rtl="1">
              <a:defRPr sz="1800">
                <a:solidFill>
                  <a:srgbClr val="9CA3AF"/>
                </a:solidFill>
              </a:defRPr>
            </a:pPr>
            <a:r>
              <a:rPr lang="en-US" dirty="0"/>
              <a:t>Now, we’ll show a live demo of Qattah.</a:t>
            </a:r>
          </a:p>
          <a:p>
            <a:pPr algn="ctr" rtl="1">
              <a:defRPr sz="2200">
                <a:solidFill>
                  <a:srgbClr val="E5E7EB"/>
                </a:solidFill>
              </a:defRPr>
            </a:pPr>
            <a:r>
              <a:rPr lang="ar-SA" dirty="0"/>
              <a:t>تسجيل عضو.</a:t>
            </a:r>
          </a:p>
          <a:p>
            <a:pPr algn="ctr" rtl="1">
              <a:defRPr sz="1800">
                <a:solidFill>
                  <a:srgbClr val="9CA3AF"/>
                </a:solidFill>
              </a:defRPr>
            </a:pPr>
            <a:r>
              <a:rPr lang="en-US" dirty="0"/>
              <a:t>Member Registration.</a:t>
            </a:r>
          </a:p>
          <a:p>
            <a:pPr algn="ctr" rtl="1">
              <a:defRPr sz="2200">
                <a:solidFill>
                  <a:srgbClr val="E5E7EB"/>
                </a:solidFill>
              </a:defRPr>
            </a:pPr>
            <a:r>
              <a:rPr dirty="0" err="1"/>
              <a:t>إنشاء</a:t>
            </a:r>
            <a:r>
              <a:rPr dirty="0"/>
              <a:t> </a:t>
            </a:r>
            <a:r>
              <a:rPr dirty="0" err="1"/>
              <a:t>مجموعة</a:t>
            </a:r>
            <a:r>
              <a:rPr dirty="0"/>
              <a:t> </a:t>
            </a:r>
            <a:r>
              <a:rPr dirty="0" err="1"/>
              <a:t>وإضافة</a:t>
            </a:r>
            <a:r>
              <a:rPr dirty="0"/>
              <a:t> </a:t>
            </a:r>
            <a:r>
              <a:rPr dirty="0" err="1"/>
              <a:t>المصاريف</a:t>
            </a:r>
            <a:r>
              <a:rPr dirty="0"/>
              <a:t>.</a:t>
            </a:r>
          </a:p>
          <a:p>
            <a:pPr algn="ctr" rtl="1">
              <a:defRPr sz="1800">
                <a:solidFill>
                  <a:srgbClr val="9CA3AF"/>
                </a:solidFill>
              </a:defRPr>
            </a:pPr>
            <a:r>
              <a:rPr dirty="0"/>
              <a:t>Create group &amp; add expenses.</a:t>
            </a:r>
          </a:p>
          <a:p>
            <a:pPr algn="ctr" rtl="1">
              <a:defRPr sz="1800">
                <a:solidFill>
                  <a:srgbClr val="9CA3AF"/>
                </a:solidFill>
              </a:defRPr>
            </a:pPr>
            <a:r>
              <a:rPr lang="ar-SA" sz="2200" dirty="0">
                <a:solidFill>
                  <a:srgbClr val="E5E7EB"/>
                </a:solidFill>
              </a:rPr>
              <a:t>إضافة</a:t>
            </a:r>
            <a:r>
              <a:rPr lang="en-US" sz="2200" dirty="0">
                <a:solidFill>
                  <a:srgbClr val="E5E7EB"/>
                </a:solidFill>
              </a:rPr>
              <a:t> </a:t>
            </a:r>
            <a:r>
              <a:rPr lang="ar-SA" sz="2200" dirty="0">
                <a:solidFill>
                  <a:srgbClr val="E5E7EB"/>
                </a:solidFill>
              </a:rPr>
              <a:t>الاعضاء</a:t>
            </a:r>
            <a:r>
              <a:rPr lang="en-US" sz="2200" dirty="0">
                <a:solidFill>
                  <a:srgbClr val="E5E7EB"/>
                </a:solidFill>
              </a:rPr>
              <a:t> </a:t>
            </a:r>
            <a:r>
              <a:rPr lang="ar-SA" sz="2200" dirty="0">
                <a:solidFill>
                  <a:srgbClr val="E5E7EB"/>
                </a:solidFill>
              </a:rPr>
              <a:t>للمجموعة</a:t>
            </a:r>
            <a:endParaRPr lang="en-US" sz="2200" dirty="0">
              <a:solidFill>
                <a:srgbClr val="E5E7EB"/>
              </a:solidFill>
            </a:endParaRPr>
          </a:p>
          <a:p>
            <a:pPr algn="ctr" rtl="1">
              <a:defRPr sz="1800">
                <a:solidFill>
                  <a:srgbClr val="9CA3AF"/>
                </a:solidFill>
              </a:defRPr>
            </a:pPr>
            <a:r>
              <a:rPr lang="en-US" dirty="0"/>
              <a:t>Add members to group.</a:t>
            </a:r>
          </a:p>
          <a:p>
            <a:pPr algn="ctr">
              <a:defRPr sz="2200">
                <a:solidFill>
                  <a:srgbClr val="E5E7EB"/>
                </a:solidFill>
              </a:defRPr>
            </a:pPr>
            <a:r>
              <a:rPr dirty="0" err="1"/>
              <a:t>الحساب</a:t>
            </a:r>
            <a:r>
              <a:rPr dirty="0"/>
              <a:t> </a:t>
            </a:r>
            <a:r>
              <a:rPr dirty="0" err="1"/>
              <a:t>التلقائي</a:t>
            </a:r>
            <a:r>
              <a:rPr dirty="0"/>
              <a:t> </a:t>
            </a:r>
            <a:r>
              <a:rPr dirty="0" err="1"/>
              <a:t>للتسويات</a:t>
            </a:r>
            <a:r>
              <a:rPr dirty="0"/>
              <a:t>.</a:t>
            </a:r>
          </a:p>
          <a:p>
            <a:pPr algn="ctr" rtl="1">
              <a:defRPr sz="1800">
                <a:solidFill>
                  <a:srgbClr val="9CA3AF"/>
                </a:solidFill>
              </a:defRPr>
            </a:pPr>
            <a:r>
              <a:rPr dirty="0"/>
              <a:t>Automatic settlement calculation.</a:t>
            </a:r>
          </a:p>
          <a:p>
            <a:pPr algn="ctr" rtl="1">
              <a:defRPr sz="2200">
                <a:solidFill>
                  <a:srgbClr val="E5E7EB"/>
                </a:solidFill>
              </a:defRPr>
            </a:pPr>
            <a:r>
              <a:rPr dirty="0" err="1"/>
              <a:t>عرض</a:t>
            </a:r>
            <a:r>
              <a:rPr dirty="0"/>
              <a:t> </a:t>
            </a:r>
            <a:r>
              <a:rPr dirty="0" err="1"/>
              <a:t>المستحقات</a:t>
            </a:r>
            <a:r>
              <a:rPr dirty="0"/>
              <a:t> </a:t>
            </a:r>
            <a:r>
              <a:rPr dirty="0" err="1"/>
              <a:t>بشكل</a:t>
            </a:r>
            <a:r>
              <a:rPr dirty="0"/>
              <a:t> </a:t>
            </a:r>
            <a:r>
              <a:rPr dirty="0" err="1"/>
              <a:t>واضح</a:t>
            </a:r>
            <a:r>
              <a:rPr dirty="0"/>
              <a:t>.</a:t>
            </a:r>
          </a:p>
          <a:p>
            <a:pPr algn="ctr" rtl="1">
              <a:defRPr sz="1800">
                <a:solidFill>
                  <a:srgbClr val="9CA3AF"/>
                </a:solidFill>
              </a:defRPr>
            </a:pPr>
            <a:r>
              <a:rPr dirty="0"/>
              <a:t>Display clear balances.</a:t>
            </a:r>
            <a:endParaRPr lang="en-US" dirty="0"/>
          </a:p>
          <a:p>
            <a:pPr algn="ctr">
              <a:defRPr sz="2200">
                <a:solidFill>
                  <a:srgbClr val="E5E7EB"/>
                </a:solidFill>
              </a:defRPr>
            </a:pPr>
            <a:r>
              <a:rPr lang="ar-SA" dirty="0"/>
              <a:t>سداد المستحقات عن طريق البار كود او نقدي.</a:t>
            </a:r>
          </a:p>
          <a:p>
            <a:pPr algn="ctr" rtl="1">
              <a:defRPr sz="1800">
                <a:solidFill>
                  <a:srgbClr val="9CA3AF"/>
                </a:solidFill>
              </a:defRPr>
            </a:pPr>
            <a:r>
              <a:rPr lang="en-US" dirty="0"/>
              <a:t>Settling payments can be done through barcode scanning or in cash.</a:t>
            </a:r>
          </a:p>
          <a:p>
            <a:pPr algn="ctr" rtl="1">
              <a:defRPr sz="1800">
                <a:solidFill>
                  <a:srgbClr val="9CA3AF"/>
                </a:solidFill>
              </a:defRPr>
            </a:pPr>
            <a:r>
              <a:rPr lang="ar-SA" sz="2200" dirty="0">
                <a:solidFill>
                  <a:srgbClr val="E5E7EB"/>
                </a:solidFill>
              </a:rPr>
              <a:t>التواصل بين المستخدمين عن طريق</a:t>
            </a:r>
            <a:r>
              <a:rPr lang="en-US" sz="2200" dirty="0">
                <a:solidFill>
                  <a:srgbClr val="E5E7EB"/>
                </a:solidFill>
              </a:rPr>
              <a:t> </a:t>
            </a:r>
            <a:r>
              <a:rPr lang="ar-SA" sz="2200" dirty="0">
                <a:solidFill>
                  <a:srgbClr val="E5E7EB"/>
                </a:solidFill>
              </a:rPr>
              <a:t> الواتس </a:t>
            </a:r>
            <a:r>
              <a:rPr lang="en-US" sz="2200" dirty="0">
                <a:solidFill>
                  <a:srgbClr val="E5E7EB"/>
                </a:solidFill>
              </a:rPr>
              <a:t>WhatsApp</a:t>
            </a:r>
            <a:endParaRPr lang="ar-SA" sz="2200" dirty="0">
              <a:solidFill>
                <a:srgbClr val="E5E7EB"/>
              </a:solidFill>
            </a:endParaRPr>
          </a:p>
          <a:p>
            <a:pPr algn="ctr" rtl="1">
              <a:defRPr sz="1800">
                <a:solidFill>
                  <a:srgbClr val="9CA3AF"/>
                </a:solidFill>
              </a:defRPr>
            </a:pPr>
            <a:r>
              <a:rPr lang="en-US" dirty="0">
                <a:solidFill>
                  <a:srgbClr val="9CA3AF"/>
                </a:solidFill>
              </a:rPr>
              <a:t>Contact the user via WhatsApp to pay.</a:t>
            </a:r>
            <a:endParaRPr lang="ar-SA" dirty="0">
              <a:solidFill>
                <a:srgbClr val="9CA3AF"/>
              </a:solidFill>
            </a:endParaRPr>
          </a:p>
          <a:p>
            <a:pPr algn="ctr" rtl="1">
              <a:defRPr sz="2200">
                <a:solidFill>
                  <a:srgbClr val="E5E7EB"/>
                </a:solidFill>
              </a:defRPr>
            </a:pPr>
            <a:r>
              <a:rPr lang="ar-SA" dirty="0"/>
              <a:t>تحديثات لحظية عبر </a:t>
            </a:r>
            <a:r>
              <a:rPr lang="en-US" dirty="0" err="1"/>
              <a:t>Supabase</a:t>
            </a:r>
            <a:r>
              <a:rPr lang="en-US" dirty="0"/>
              <a:t>.</a:t>
            </a:r>
          </a:p>
          <a:p>
            <a:pPr algn="ctr" rtl="1">
              <a:defRPr sz="1800">
                <a:solidFill>
                  <a:srgbClr val="9CA3AF"/>
                </a:solidFill>
              </a:defRPr>
            </a:pPr>
            <a:r>
              <a:rPr dirty="0"/>
              <a:t>Real-time updates via </a:t>
            </a:r>
            <a:r>
              <a:rPr dirty="0" err="1"/>
              <a:t>Supabase</a:t>
            </a:r>
            <a:r>
              <a:rPr dirty="0"/>
              <a:t>.</a:t>
            </a:r>
          </a:p>
        </p:txBody>
      </p:sp>
      <p:pic>
        <p:nvPicPr>
          <p:cNvPr id="5" name="Picture 4">
            <a:extLst>
              <a:ext uri="{FF2B5EF4-FFF2-40B4-BE49-F238E27FC236}">
                <a16:creationId xmlns:a16="http://schemas.microsoft.com/office/drawing/2014/main" id="{12039C63-A347-034E-8B09-556670F2FD9A}"/>
              </a:ext>
            </a:extLst>
          </p:cNvPr>
          <p:cNvPicPr>
            <a:picLocks noChangeAspect="1"/>
          </p:cNvPicPr>
          <p:nvPr/>
        </p:nvPicPr>
        <p:blipFill>
          <a:blip r:embed="rId3"/>
          <a:stretch>
            <a:fillRect/>
          </a:stretch>
        </p:blipFill>
        <p:spPr>
          <a:xfrm>
            <a:off x="4183380" y="320040"/>
            <a:ext cx="731520" cy="731520"/>
          </a:xfrm>
          <a:prstGeom prst="rect">
            <a:avLst/>
          </a:prstGeom>
        </p:spPr>
      </p:pic>
      <p:pic>
        <p:nvPicPr>
          <p:cNvPr id="7" name="Picture 6">
            <a:extLst>
              <a:ext uri="{FF2B5EF4-FFF2-40B4-BE49-F238E27FC236}">
                <a16:creationId xmlns:a16="http://schemas.microsoft.com/office/drawing/2014/main" id="{7A46C1D2-DA91-EE7E-B670-F5A49CE261E7}"/>
              </a:ext>
            </a:extLst>
          </p:cNvPr>
          <p:cNvPicPr>
            <a:picLocks noChangeAspect="1"/>
          </p:cNvPicPr>
          <p:nvPr/>
        </p:nvPicPr>
        <p:blipFill>
          <a:blip r:embed="rId4"/>
          <a:stretch>
            <a:fillRect/>
          </a:stretch>
        </p:blipFill>
        <p:spPr>
          <a:xfrm>
            <a:off x="440945" y="2250528"/>
            <a:ext cx="1359278" cy="1762077"/>
          </a:xfrm>
          <a:prstGeom prst="rect">
            <a:avLst/>
          </a:prstGeom>
        </p:spPr>
      </p:pic>
      <p:pic>
        <p:nvPicPr>
          <p:cNvPr id="8" name="Picture 7">
            <a:extLst>
              <a:ext uri="{FF2B5EF4-FFF2-40B4-BE49-F238E27FC236}">
                <a16:creationId xmlns:a16="http://schemas.microsoft.com/office/drawing/2014/main" id="{0BB57166-4BAD-DD29-74C6-B410286860E0}"/>
              </a:ext>
            </a:extLst>
          </p:cNvPr>
          <p:cNvPicPr>
            <a:picLocks noChangeAspect="1"/>
          </p:cNvPicPr>
          <p:nvPr/>
        </p:nvPicPr>
        <p:blipFill>
          <a:blip r:embed="rId4"/>
          <a:stretch>
            <a:fillRect/>
          </a:stretch>
        </p:blipFill>
        <p:spPr>
          <a:xfrm>
            <a:off x="7303256" y="2250528"/>
            <a:ext cx="1359278" cy="176207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gradFill rotWithShape="1">
            <a:gsLst>
              <a:gs pos="0">
                <a:srgbClr val="0B1220"/>
              </a:gs>
              <a:gs pos="100000">
                <a:srgbClr val="142319"/>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5460" y="365760"/>
            <a:ext cx="7847020" cy="1077218"/>
          </a:xfrm>
          <a:prstGeom prst="rect">
            <a:avLst/>
          </a:prstGeom>
          <a:noFill/>
        </p:spPr>
        <p:txBody>
          <a:bodyPr wrap="none">
            <a:spAutoFit/>
          </a:bodyPr>
          <a:lstStyle/>
          <a:p>
            <a:pPr algn="r">
              <a:defRPr sz="3800" b="1">
                <a:solidFill>
                  <a:srgbClr val="22C55E"/>
                </a:solidFill>
              </a:defRPr>
            </a:pPr>
            <a:r>
              <a:rPr dirty="0" err="1"/>
              <a:t>الخاتمة</a:t>
            </a:r>
            <a:endParaRPr dirty="0"/>
          </a:p>
          <a:p>
            <a:pPr>
              <a:defRPr sz="2600">
                <a:solidFill>
                  <a:srgbClr val="B4C8BE"/>
                </a:solidFill>
              </a:defRPr>
            </a:pPr>
            <a:r>
              <a:rPr dirty="0"/>
              <a:t>Closing</a:t>
            </a:r>
          </a:p>
        </p:txBody>
      </p:sp>
      <p:sp>
        <p:nvSpPr>
          <p:cNvPr id="4" name="TextBox 3"/>
          <p:cNvSpPr txBox="1"/>
          <p:nvPr/>
        </p:nvSpPr>
        <p:spPr>
          <a:xfrm>
            <a:off x="640080" y="1828800"/>
            <a:ext cx="7772400" cy="3108543"/>
          </a:xfrm>
          <a:prstGeom prst="rect">
            <a:avLst/>
          </a:prstGeom>
          <a:noFill/>
        </p:spPr>
        <p:txBody>
          <a:bodyPr wrap="square">
            <a:spAutoFit/>
          </a:bodyPr>
          <a:lstStyle/>
          <a:p>
            <a:pPr algn="ctr" rtl="1"/>
            <a:endParaRPr dirty="0"/>
          </a:p>
          <a:p>
            <a:pPr algn="ctr" rtl="1"/>
            <a:endParaRPr lang="ar-SA" dirty="0"/>
          </a:p>
          <a:p>
            <a:pPr algn="ctr" rtl="1">
              <a:defRPr sz="2200">
                <a:solidFill>
                  <a:srgbClr val="E5E7EB"/>
                </a:solidFill>
              </a:defRPr>
            </a:pPr>
            <a:r>
              <a:rPr lang="ar-SA" dirty="0"/>
              <a:t>شكرًا لحضوركم.</a:t>
            </a:r>
          </a:p>
          <a:p>
            <a:pPr algn="ctr" rtl="1">
              <a:defRPr sz="1800">
                <a:solidFill>
                  <a:srgbClr val="9CA3AF"/>
                </a:solidFill>
              </a:defRPr>
            </a:pPr>
            <a:r>
              <a:rPr lang="en-US" dirty="0"/>
              <a:t>Thank you for attending.</a:t>
            </a:r>
          </a:p>
          <a:p>
            <a:pPr algn="ctr" rtl="1">
              <a:defRPr sz="2200">
                <a:solidFill>
                  <a:srgbClr val="E5E7EB"/>
                </a:solidFill>
              </a:defRPr>
            </a:pPr>
            <a:r>
              <a:rPr lang="ar-SA" dirty="0"/>
              <a:t>تعلمنا الكثير خلال هذا المشروع عن التعاون، الوقت، والمسؤولية.</a:t>
            </a:r>
          </a:p>
          <a:p>
            <a:pPr algn="ctr" rtl="1">
              <a:defRPr sz="1800">
                <a:solidFill>
                  <a:srgbClr val="9CA3AF"/>
                </a:solidFill>
              </a:defRPr>
            </a:pPr>
            <a:r>
              <a:rPr lang="en-US" dirty="0"/>
              <a:t>We learned a lot about teamwork, time management, and ownership.</a:t>
            </a:r>
          </a:p>
          <a:p>
            <a:pPr algn="ctr" rtl="1">
              <a:defRPr sz="2200">
                <a:solidFill>
                  <a:srgbClr val="E5E7EB"/>
                </a:solidFill>
              </a:defRPr>
            </a:pPr>
            <a:r>
              <a:rPr lang="ar-SA" dirty="0"/>
              <a:t>من فكرة بسيطة إلى منتج حقيقي أمامكم الآن — هذه رحلتنا.</a:t>
            </a:r>
          </a:p>
          <a:p>
            <a:pPr algn="ctr" rtl="1">
              <a:defRPr sz="1800">
                <a:solidFill>
                  <a:srgbClr val="9CA3AF"/>
                </a:solidFill>
              </a:defRPr>
            </a:pPr>
            <a:r>
              <a:rPr lang="en-US" dirty="0"/>
              <a:t>From a simple idea to a real product you see today — this is our journey.</a:t>
            </a:r>
          </a:p>
          <a:p>
            <a:pPr algn="ctr" rtl="1">
              <a:defRPr sz="2200">
                <a:solidFill>
                  <a:srgbClr val="E5E7EB"/>
                </a:solidFill>
              </a:defRPr>
            </a:pPr>
            <a:r>
              <a:rPr lang="ar-SA" dirty="0"/>
              <a:t>شكرًا لكم </a:t>
            </a:r>
            <a:r>
              <a:rPr lang="en-US" dirty="0"/>
              <a:t>🌿</a:t>
            </a:r>
          </a:p>
          <a:p>
            <a:pPr algn="ctr" rtl="1">
              <a:defRPr sz="1800">
                <a:solidFill>
                  <a:srgbClr val="9CA3AF"/>
                </a:solidFill>
              </a:defRPr>
            </a:pPr>
            <a:r>
              <a:rPr lang="en-US" dirty="0"/>
              <a:t>Thank you 🌿</a:t>
            </a:r>
          </a:p>
        </p:txBody>
      </p:sp>
      <p:pic>
        <p:nvPicPr>
          <p:cNvPr id="5" name="Picture 4">
            <a:extLst>
              <a:ext uri="{FF2B5EF4-FFF2-40B4-BE49-F238E27FC236}">
                <a16:creationId xmlns:a16="http://schemas.microsoft.com/office/drawing/2014/main" id="{FE1B6A16-BDE9-4B4E-1AF6-345F3613D47B}"/>
              </a:ext>
            </a:extLst>
          </p:cNvPr>
          <p:cNvPicPr>
            <a:picLocks noChangeAspect="1"/>
          </p:cNvPicPr>
          <p:nvPr/>
        </p:nvPicPr>
        <p:blipFill>
          <a:blip r:embed="rId3"/>
          <a:stretch>
            <a:fillRect/>
          </a:stretch>
        </p:blipFill>
        <p:spPr>
          <a:xfrm>
            <a:off x="4206240" y="365760"/>
            <a:ext cx="731520" cy="7315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gradFill rotWithShape="1">
            <a:gsLst>
              <a:gs pos="0">
                <a:srgbClr val="0B1220"/>
              </a:gs>
              <a:gs pos="100000">
                <a:srgbClr val="142319"/>
              </a:gs>
            </a:gsLst>
            <a:lin ang="162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1" y="0"/>
            <a:ext cx="7772399" cy="1077218"/>
          </a:xfrm>
          <a:prstGeom prst="rect">
            <a:avLst/>
          </a:prstGeom>
          <a:noFill/>
        </p:spPr>
        <p:txBody>
          <a:bodyPr wrap="square">
            <a:spAutoFit/>
          </a:bodyPr>
          <a:lstStyle/>
          <a:p>
            <a:pPr algn="r">
              <a:defRPr sz="3800" b="1">
                <a:solidFill>
                  <a:srgbClr val="22C55E"/>
                </a:solidFill>
              </a:defRPr>
            </a:pPr>
            <a:r>
              <a:rPr dirty="0"/>
              <a:t>أ</a:t>
            </a:r>
            <a:r>
              <a:rPr lang="ar-SA" dirty="0"/>
              <a:t>عضاء</a:t>
            </a:r>
            <a:r>
              <a:rPr dirty="0"/>
              <a:t> </a:t>
            </a:r>
            <a:r>
              <a:rPr dirty="0" err="1"/>
              <a:t>الفريق</a:t>
            </a:r>
            <a:r>
              <a:rPr dirty="0"/>
              <a:t> </a:t>
            </a:r>
          </a:p>
          <a:p>
            <a:pPr>
              <a:defRPr sz="2600">
                <a:solidFill>
                  <a:srgbClr val="B4C8BE"/>
                </a:solidFill>
              </a:defRPr>
            </a:pPr>
            <a:r>
              <a:rPr dirty="0"/>
              <a:t>Team Roles</a:t>
            </a:r>
            <a:endParaRPr lang="en-US" dirty="0"/>
          </a:p>
        </p:txBody>
      </p:sp>
      <p:sp>
        <p:nvSpPr>
          <p:cNvPr id="4" name="TextBox 3"/>
          <p:cNvSpPr txBox="1"/>
          <p:nvPr/>
        </p:nvSpPr>
        <p:spPr>
          <a:xfrm>
            <a:off x="662940" y="1634490"/>
            <a:ext cx="7772400" cy="2831544"/>
          </a:xfrm>
          <a:prstGeom prst="rect">
            <a:avLst/>
          </a:prstGeom>
          <a:noFill/>
        </p:spPr>
        <p:txBody>
          <a:bodyPr wrap="square">
            <a:spAutoFit/>
          </a:bodyPr>
          <a:lstStyle/>
          <a:p>
            <a:pPr algn="ctr" rtl="1">
              <a:defRPr sz="2200">
                <a:solidFill>
                  <a:srgbClr val="E5E7EB"/>
                </a:solidFill>
              </a:defRPr>
            </a:pPr>
            <a:r>
              <a:rPr lang="ar-SA" dirty="0"/>
              <a:t>كل عضو طور مهاراته في التعاون والإصدار والتوزيع.</a:t>
            </a:r>
          </a:p>
          <a:p>
            <a:pPr algn="ctr" rtl="1">
              <a:defRPr sz="1800">
                <a:solidFill>
                  <a:srgbClr val="9CA3AF"/>
                </a:solidFill>
              </a:defRPr>
            </a:pPr>
            <a:r>
              <a:rPr lang="en-US" dirty="0"/>
              <a:t>Each member improved teamwork, Git flow, and deployment skills.</a:t>
            </a:r>
          </a:p>
          <a:p>
            <a:pPr algn="ctr" rtl="1"/>
            <a:endParaRPr dirty="0"/>
          </a:p>
          <a:p>
            <a:pPr algn="ctr" rtl="1">
              <a:defRPr sz="2200">
                <a:solidFill>
                  <a:srgbClr val="E5E7EB"/>
                </a:solidFill>
              </a:defRPr>
            </a:pPr>
            <a:r>
              <a:rPr dirty="0" err="1"/>
              <a:t>إبراهيم</a:t>
            </a:r>
            <a:r>
              <a:rPr dirty="0"/>
              <a:t> — </a:t>
            </a:r>
            <a:r>
              <a:rPr lang="ar-SA" dirty="0"/>
              <a:t> </a:t>
            </a:r>
            <a:r>
              <a:rPr dirty="0" err="1"/>
              <a:t>مدير</a:t>
            </a:r>
            <a:r>
              <a:rPr dirty="0"/>
              <a:t> </a:t>
            </a:r>
            <a:r>
              <a:rPr dirty="0" err="1"/>
              <a:t>المشروع</a:t>
            </a:r>
            <a:r>
              <a:rPr dirty="0"/>
              <a:t>: </a:t>
            </a:r>
            <a:r>
              <a:rPr dirty="0" err="1"/>
              <a:t>إدارة</a:t>
            </a:r>
            <a:r>
              <a:rPr dirty="0"/>
              <a:t> </a:t>
            </a:r>
            <a:r>
              <a:rPr dirty="0" err="1"/>
              <a:t>السبرنتات</a:t>
            </a:r>
            <a:r>
              <a:rPr dirty="0"/>
              <a:t> </a:t>
            </a:r>
            <a:r>
              <a:rPr dirty="0" err="1"/>
              <a:t>والتواصل</a:t>
            </a:r>
            <a:r>
              <a:rPr dirty="0"/>
              <a:t>.</a:t>
            </a:r>
          </a:p>
          <a:p>
            <a:pPr algn="ctr" rtl="1">
              <a:defRPr sz="1800">
                <a:solidFill>
                  <a:srgbClr val="9CA3AF"/>
                </a:solidFill>
              </a:defRPr>
            </a:pPr>
            <a:r>
              <a:rPr dirty="0"/>
              <a:t>Ibrahim — Project Manager: led sprints &amp; communication.</a:t>
            </a:r>
          </a:p>
          <a:p>
            <a:pPr algn="ctr" rtl="1">
              <a:defRPr sz="2200">
                <a:solidFill>
                  <a:srgbClr val="E5E7EB"/>
                </a:solidFill>
              </a:defRPr>
            </a:pPr>
            <a:r>
              <a:rPr dirty="0" err="1"/>
              <a:t>خالد</a:t>
            </a:r>
            <a:r>
              <a:rPr dirty="0"/>
              <a:t> — </a:t>
            </a:r>
            <a:r>
              <a:rPr lang="ar-SA" dirty="0"/>
              <a:t> </a:t>
            </a:r>
            <a:r>
              <a:rPr dirty="0" err="1"/>
              <a:t>قائد</a:t>
            </a:r>
            <a:r>
              <a:rPr dirty="0"/>
              <a:t> </a:t>
            </a:r>
            <a:r>
              <a:rPr dirty="0" err="1"/>
              <a:t>الواجهة</a:t>
            </a:r>
            <a:r>
              <a:rPr dirty="0"/>
              <a:t> </a:t>
            </a:r>
            <a:r>
              <a:rPr dirty="0" err="1"/>
              <a:t>والتوثيق</a:t>
            </a:r>
            <a:r>
              <a:rPr dirty="0"/>
              <a:t>: </a:t>
            </a:r>
            <a:r>
              <a:rPr dirty="0" err="1"/>
              <a:t>تصميم</a:t>
            </a:r>
            <a:r>
              <a:rPr dirty="0"/>
              <a:t> </a:t>
            </a:r>
            <a:r>
              <a:rPr dirty="0" err="1"/>
              <a:t>الواجهة</a:t>
            </a:r>
            <a:r>
              <a:rPr dirty="0"/>
              <a:t> </a:t>
            </a:r>
            <a:r>
              <a:rPr dirty="0" err="1"/>
              <a:t>وكتابة</a:t>
            </a:r>
            <a:r>
              <a:rPr dirty="0"/>
              <a:t> </a:t>
            </a:r>
            <a:r>
              <a:rPr dirty="0" err="1"/>
              <a:t>الوثائق</a:t>
            </a:r>
            <a:r>
              <a:rPr dirty="0"/>
              <a:t>.</a:t>
            </a:r>
          </a:p>
          <a:p>
            <a:pPr algn="ctr" rtl="1">
              <a:defRPr sz="1800">
                <a:solidFill>
                  <a:srgbClr val="9CA3AF"/>
                </a:solidFill>
              </a:defRPr>
            </a:pPr>
            <a:r>
              <a:rPr dirty="0"/>
              <a:t>Khaled — Frontend &amp; Docs Lead: designed UI &amp; wrote docs.</a:t>
            </a:r>
          </a:p>
          <a:p>
            <a:pPr algn="ctr" rtl="1">
              <a:defRPr sz="2200">
                <a:solidFill>
                  <a:srgbClr val="E5E7EB"/>
                </a:solidFill>
              </a:defRPr>
            </a:pPr>
            <a:r>
              <a:rPr dirty="0" err="1"/>
              <a:t>فهد</a:t>
            </a:r>
            <a:r>
              <a:rPr dirty="0"/>
              <a:t> — </a:t>
            </a:r>
            <a:r>
              <a:rPr lang="ar-SA" dirty="0"/>
              <a:t> </a:t>
            </a:r>
            <a:r>
              <a:rPr dirty="0" err="1"/>
              <a:t>قائد</a:t>
            </a:r>
            <a:r>
              <a:rPr dirty="0"/>
              <a:t> </a:t>
            </a:r>
            <a:r>
              <a:rPr dirty="0" err="1"/>
              <a:t>الخلفية</a:t>
            </a:r>
            <a:r>
              <a:rPr dirty="0"/>
              <a:t> </a:t>
            </a:r>
            <a:r>
              <a:rPr dirty="0" err="1"/>
              <a:t>وقاعدة</a:t>
            </a:r>
            <a:r>
              <a:rPr dirty="0"/>
              <a:t> </a:t>
            </a:r>
            <a:r>
              <a:rPr dirty="0" err="1"/>
              <a:t>البيانات</a:t>
            </a:r>
            <a:r>
              <a:rPr dirty="0"/>
              <a:t>: </a:t>
            </a:r>
            <a:r>
              <a:rPr dirty="0" err="1"/>
              <a:t>تطوير</a:t>
            </a:r>
            <a:r>
              <a:rPr dirty="0"/>
              <a:t> </a:t>
            </a:r>
            <a:r>
              <a:rPr dirty="0" err="1"/>
              <a:t>الـAPI</a:t>
            </a:r>
            <a:r>
              <a:rPr lang="ar-SA" dirty="0"/>
              <a:t> </a:t>
            </a:r>
            <a:r>
              <a:rPr dirty="0"/>
              <a:t> </a:t>
            </a:r>
            <a:r>
              <a:rPr dirty="0" err="1"/>
              <a:t>والنشر</a:t>
            </a:r>
            <a:r>
              <a:rPr dirty="0"/>
              <a:t>.</a:t>
            </a:r>
          </a:p>
          <a:p>
            <a:pPr algn="ctr" rtl="1">
              <a:defRPr sz="1800">
                <a:solidFill>
                  <a:srgbClr val="9CA3AF"/>
                </a:solidFill>
              </a:defRPr>
            </a:pPr>
            <a:r>
              <a:rPr dirty="0"/>
              <a:t>Fahad — Backend &amp; DB Lead: built APIs &amp; managed deployment.</a:t>
            </a:r>
          </a:p>
        </p:txBody>
      </p:sp>
      <p:pic>
        <p:nvPicPr>
          <p:cNvPr id="5" name="Picture 4">
            <a:extLst>
              <a:ext uri="{FF2B5EF4-FFF2-40B4-BE49-F238E27FC236}">
                <a16:creationId xmlns:a16="http://schemas.microsoft.com/office/drawing/2014/main" id="{0F164504-CBBD-D0AD-B769-9B3E313723A8}"/>
              </a:ext>
            </a:extLst>
          </p:cNvPr>
          <p:cNvPicPr>
            <a:picLocks noChangeAspect="1"/>
          </p:cNvPicPr>
          <p:nvPr/>
        </p:nvPicPr>
        <p:blipFill>
          <a:blip r:embed="rId3"/>
          <a:stretch>
            <a:fillRect/>
          </a:stretch>
        </p:blipFill>
        <p:spPr>
          <a:xfrm>
            <a:off x="4183380" y="299531"/>
            <a:ext cx="731520" cy="7315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218</TotalTime>
  <Words>965</Words>
  <Application>Microsoft Office PowerPoint</Application>
  <PresentationFormat>On-screen Show (4:3)</PresentationFormat>
  <Paragraphs>140</Paragraphs>
  <Slides>9</Slides>
  <Notes>8</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Calibri</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FAHAD™ .</cp:lastModifiedBy>
  <cp:revision>19</cp:revision>
  <dcterms:created xsi:type="dcterms:W3CDTF">2013-01-27T09:14:16Z</dcterms:created>
  <dcterms:modified xsi:type="dcterms:W3CDTF">2025-11-13T10:34:28Z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0ebd55d-c3ba-4379-b4f0-b906963f4f5e_Enabled">
    <vt:lpwstr>true</vt:lpwstr>
  </property>
  <property fmtid="{D5CDD505-2E9C-101B-9397-08002B2CF9AE}" pid="3" name="MSIP_Label_70ebd55d-c3ba-4379-b4f0-b906963f4f5e_SetDate">
    <vt:lpwstr>2025-11-11T11:30:51Z</vt:lpwstr>
  </property>
  <property fmtid="{D5CDD505-2E9C-101B-9397-08002B2CF9AE}" pid="4" name="MSIP_Label_70ebd55d-c3ba-4379-b4f0-b906963f4f5e_Method">
    <vt:lpwstr>Standard</vt:lpwstr>
  </property>
  <property fmtid="{D5CDD505-2E9C-101B-9397-08002B2CF9AE}" pid="5" name="MSIP_Label_70ebd55d-c3ba-4379-b4f0-b906963f4f5e_Name">
    <vt:lpwstr>Confidential - مقيد</vt:lpwstr>
  </property>
  <property fmtid="{D5CDD505-2E9C-101B-9397-08002B2CF9AE}" pid="6" name="MSIP_Label_70ebd55d-c3ba-4379-b4f0-b906963f4f5e_SiteId">
    <vt:lpwstr>f8ba2c23-a403-423b-ba39-f7883c211637</vt:lpwstr>
  </property>
  <property fmtid="{D5CDD505-2E9C-101B-9397-08002B2CF9AE}" pid="7" name="MSIP_Label_70ebd55d-c3ba-4379-b4f0-b906963f4f5e_ActionId">
    <vt:lpwstr>098a8eb5-8005-4c77-be33-36d293a4b341</vt:lpwstr>
  </property>
  <property fmtid="{D5CDD505-2E9C-101B-9397-08002B2CF9AE}" pid="8" name="MSIP_Label_70ebd55d-c3ba-4379-b4f0-b906963f4f5e_ContentBits">
    <vt:lpwstr>3</vt:lpwstr>
  </property>
  <property fmtid="{D5CDD505-2E9C-101B-9397-08002B2CF9AE}" pid="9" name="MSIP_Label_70ebd55d-c3ba-4379-b4f0-b906963f4f5e_Tag">
    <vt:lpwstr>10, 3, 0, 1</vt:lpwstr>
  </property>
  <property fmtid="{D5CDD505-2E9C-101B-9397-08002B2CF9AE}" pid="10" name="ClassificationContentMarkingFooterLocations">
    <vt:lpwstr>Office Theme:10</vt:lpwstr>
  </property>
  <property fmtid="{D5CDD505-2E9C-101B-9397-08002B2CF9AE}" pid="11" name="ClassificationContentMarkingFooterText">
    <vt:lpwstr>Classification: Confidential </vt:lpwstr>
  </property>
  <property fmtid="{D5CDD505-2E9C-101B-9397-08002B2CF9AE}" pid="12" name="ClassificationContentMarkingHeaderLocations">
    <vt:lpwstr>Office Theme:9</vt:lpwstr>
  </property>
  <property fmtid="{D5CDD505-2E9C-101B-9397-08002B2CF9AE}" pid="13" name="ClassificationContentMarkingHeaderText">
    <vt:lpwstr>Classification: Confidential </vt:lpwstr>
  </property>
</Properties>
</file>